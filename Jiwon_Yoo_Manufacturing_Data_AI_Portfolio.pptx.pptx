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69" r:id="rId11"/>
    <p:sldId id="278" r:id="rId12"/>
    <p:sldId id="279" r:id="rId13"/>
    <p:sldId id="280" r:id="rId14"/>
    <p:sldId id="281" r:id="rId15"/>
    <p:sldId id="282" r:id="rId16"/>
    <p:sldId id="26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6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wyoo\Desktop\ax&#54876;&#50857;&#50669;&#47049;\&#48152;&#46020;&#52404;&#45936;&#51060;&#53552;&#48516;&#49437;\&#54532;&#47196;&#51229;&#53944;2\&#54532;&#47196;&#51229;&#53944;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wyoo\Desktop\ax&#54876;&#50857;&#50669;&#47049;\&#48152;&#46020;&#52404;&#45936;&#51060;&#53552;&#48516;&#49437;\&#54532;&#47196;&#51229;&#53944;2\&#54532;&#47196;&#51229;&#53944;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wyoo\Desktop\ax&#54876;&#50857;&#50669;&#47049;\&#48152;&#46020;&#52404;&#45936;&#51060;&#53552;&#48516;&#49437;\&#54532;&#47196;&#51229;&#53944;3\&#54532;&#47196;&#51229;&#53944;3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wyoo\Desktop\ax&#54876;&#50857;&#50669;&#47049;\&#48152;&#46020;&#52404;&#45936;&#51060;&#53552;&#48516;&#49437;\&#54532;&#47196;&#51229;&#53944;3\&#54532;&#47196;&#51229;&#53944;3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ko-KR" sz="1000" b="0" i="0" u="none" strike="noStrike" baseline="0"/>
              <a:t>Target·±1%</a:t>
            </a:r>
            <a:r>
              <a:rPr lang="en-US" altLang="ko-KR" sz="1000" b="0" i="0" u="none" strike="noStrike" baseline="0"/>
              <a:t> </a:t>
            </a:r>
            <a:r>
              <a:rPr lang="ko-KR" altLang="en-US" sz="1000" b="0" i="0" u="none" strike="noStrike" baseline="0"/>
              <a:t>범위</a:t>
            </a:r>
            <a:r>
              <a:rPr lang="ko-KR" altLang="ko-KR" sz="1000" b="0" i="0" u="none" strike="noStrike" baseline="0"/>
              <a:t> 그래프</a:t>
            </a:r>
            <a:endParaRPr lang="en-US" altLang="ko-KR" sz="1000" baseline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3"/>
          <c:order val="3"/>
          <c:tx>
            <c:strRef>
              <c:f>'추가 분석 예시_Si2H6'!$E$2</c:f>
              <c:strCache>
                <c:ptCount val="1"/>
                <c:pt idx="0">
                  <c:v>Target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'추가 분석 예시_Si2H6'!$A$3:$A$33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'추가 분석 예시_Si2H6'!$E$3:$E$33</c:f>
              <c:numCache>
                <c:formatCode>General</c:formatCode>
                <c:ptCount val="31"/>
                <c:pt idx="0">
                  <c:v>200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  <c:pt idx="5">
                  <c:v>200</c:v>
                </c:pt>
                <c:pt idx="6">
                  <c:v>200</c:v>
                </c:pt>
                <c:pt idx="7">
                  <c:v>200</c:v>
                </c:pt>
                <c:pt idx="8">
                  <c:v>200</c:v>
                </c:pt>
                <c:pt idx="9">
                  <c:v>200</c:v>
                </c:pt>
                <c:pt idx="10">
                  <c:v>200</c:v>
                </c:pt>
                <c:pt idx="11">
                  <c:v>200</c:v>
                </c:pt>
                <c:pt idx="12">
                  <c:v>200</c:v>
                </c:pt>
                <c:pt idx="13">
                  <c:v>200</c:v>
                </c:pt>
                <c:pt idx="14">
                  <c:v>200</c:v>
                </c:pt>
                <c:pt idx="15">
                  <c:v>200</c:v>
                </c:pt>
                <c:pt idx="16">
                  <c:v>200</c:v>
                </c:pt>
                <c:pt idx="17">
                  <c:v>200</c:v>
                </c:pt>
                <c:pt idx="18">
                  <c:v>200</c:v>
                </c:pt>
                <c:pt idx="19">
                  <c:v>200</c:v>
                </c:pt>
                <c:pt idx="20">
                  <c:v>200</c:v>
                </c:pt>
                <c:pt idx="21">
                  <c:v>200</c:v>
                </c:pt>
                <c:pt idx="22">
                  <c:v>200</c:v>
                </c:pt>
                <c:pt idx="23">
                  <c:v>200</c:v>
                </c:pt>
                <c:pt idx="24">
                  <c:v>200</c:v>
                </c:pt>
                <c:pt idx="25">
                  <c:v>200</c:v>
                </c:pt>
                <c:pt idx="26">
                  <c:v>200</c:v>
                </c:pt>
                <c:pt idx="27">
                  <c:v>200</c:v>
                </c:pt>
                <c:pt idx="28">
                  <c:v>200</c:v>
                </c:pt>
                <c:pt idx="29">
                  <c:v>200</c:v>
                </c:pt>
                <c:pt idx="30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EC-4937-84C4-42FDC8CB665C}"/>
            </c:ext>
          </c:extLst>
        </c:ser>
        <c:ser>
          <c:idx val="4"/>
          <c:order val="4"/>
          <c:tx>
            <c:v>USL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'추가 분석 예시_Si2H6'!$A$3:$A$33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'추가 분석 예시_Si2H6'!$F$3:$F$33</c:f>
              <c:numCache>
                <c:formatCode>General</c:formatCode>
                <c:ptCount val="31"/>
                <c:pt idx="0">
                  <c:v>202</c:v>
                </c:pt>
                <c:pt idx="1">
                  <c:v>202</c:v>
                </c:pt>
                <c:pt idx="2">
                  <c:v>202</c:v>
                </c:pt>
                <c:pt idx="3">
                  <c:v>202</c:v>
                </c:pt>
                <c:pt idx="4">
                  <c:v>202</c:v>
                </c:pt>
                <c:pt idx="5">
                  <c:v>202</c:v>
                </c:pt>
                <c:pt idx="6">
                  <c:v>202</c:v>
                </c:pt>
                <c:pt idx="7">
                  <c:v>202</c:v>
                </c:pt>
                <c:pt idx="8">
                  <c:v>202</c:v>
                </c:pt>
                <c:pt idx="9">
                  <c:v>202</c:v>
                </c:pt>
                <c:pt idx="10">
                  <c:v>202</c:v>
                </c:pt>
                <c:pt idx="11">
                  <c:v>202</c:v>
                </c:pt>
                <c:pt idx="12">
                  <c:v>202</c:v>
                </c:pt>
                <c:pt idx="13">
                  <c:v>202</c:v>
                </c:pt>
                <c:pt idx="14">
                  <c:v>202</c:v>
                </c:pt>
                <c:pt idx="15">
                  <c:v>202</c:v>
                </c:pt>
                <c:pt idx="16">
                  <c:v>202</c:v>
                </c:pt>
                <c:pt idx="17">
                  <c:v>202</c:v>
                </c:pt>
                <c:pt idx="18">
                  <c:v>202</c:v>
                </c:pt>
                <c:pt idx="19">
                  <c:v>202</c:v>
                </c:pt>
                <c:pt idx="20">
                  <c:v>202</c:v>
                </c:pt>
                <c:pt idx="21">
                  <c:v>202</c:v>
                </c:pt>
                <c:pt idx="22">
                  <c:v>202</c:v>
                </c:pt>
                <c:pt idx="23">
                  <c:v>202</c:v>
                </c:pt>
                <c:pt idx="24">
                  <c:v>202</c:v>
                </c:pt>
                <c:pt idx="25">
                  <c:v>202</c:v>
                </c:pt>
                <c:pt idx="26">
                  <c:v>202</c:v>
                </c:pt>
                <c:pt idx="27">
                  <c:v>202</c:v>
                </c:pt>
                <c:pt idx="28">
                  <c:v>202</c:v>
                </c:pt>
                <c:pt idx="29">
                  <c:v>202</c:v>
                </c:pt>
                <c:pt idx="30">
                  <c:v>202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CEC-4937-84C4-42FDC8CB665C}"/>
            </c:ext>
          </c:extLst>
        </c:ser>
        <c:ser>
          <c:idx val="5"/>
          <c:order val="5"/>
          <c:tx>
            <c:v>LSL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'추가 분석 예시_Si2H6'!$A$3:$A$33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'추가 분석 예시_Si2H6'!$G$3:$G$33</c:f>
              <c:numCache>
                <c:formatCode>General</c:formatCode>
                <c:ptCount val="31"/>
                <c:pt idx="0">
                  <c:v>198</c:v>
                </c:pt>
                <c:pt idx="1">
                  <c:v>198</c:v>
                </c:pt>
                <c:pt idx="2">
                  <c:v>198</c:v>
                </c:pt>
                <c:pt idx="3">
                  <c:v>198</c:v>
                </c:pt>
                <c:pt idx="4">
                  <c:v>198</c:v>
                </c:pt>
                <c:pt idx="5">
                  <c:v>198</c:v>
                </c:pt>
                <c:pt idx="6">
                  <c:v>198</c:v>
                </c:pt>
                <c:pt idx="7">
                  <c:v>198</c:v>
                </c:pt>
                <c:pt idx="8">
                  <c:v>198</c:v>
                </c:pt>
                <c:pt idx="9">
                  <c:v>198</c:v>
                </c:pt>
                <c:pt idx="10">
                  <c:v>198</c:v>
                </c:pt>
                <c:pt idx="11">
                  <c:v>198</c:v>
                </c:pt>
                <c:pt idx="12">
                  <c:v>198</c:v>
                </c:pt>
                <c:pt idx="13">
                  <c:v>198</c:v>
                </c:pt>
                <c:pt idx="14">
                  <c:v>198</c:v>
                </c:pt>
                <c:pt idx="15">
                  <c:v>198</c:v>
                </c:pt>
                <c:pt idx="16">
                  <c:v>198</c:v>
                </c:pt>
                <c:pt idx="17">
                  <c:v>198</c:v>
                </c:pt>
                <c:pt idx="18">
                  <c:v>198</c:v>
                </c:pt>
                <c:pt idx="19">
                  <c:v>198</c:v>
                </c:pt>
                <c:pt idx="20">
                  <c:v>198</c:v>
                </c:pt>
                <c:pt idx="21">
                  <c:v>198</c:v>
                </c:pt>
                <c:pt idx="22">
                  <c:v>198</c:v>
                </c:pt>
                <c:pt idx="23">
                  <c:v>198</c:v>
                </c:pt>
                <c:pt idx="24">
                  <c:v>198</c:v>
                </c:pt>
                <c:pt idx="25">
                  <c:v>198</c:v>
                </c:pt>
                <c:pt idx="26">
                  <c:v>198</c:v>
                </c:pt>
                <c:pt idx="27">
                  <c:v>198</c:v>
                </c:pt>
                <c:pt idx="28">
                  <c:v>198</c:v>
                </c:pt>
                <c:pt idx="29">
                  <c:v>198</c:v>
                </c:pt>
                <c:pt idx="30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CEC-4937-84C4-42FDC8CB66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1814032"/>
        <c:axId val="381815112"/>
      </c:lineChart>
      <c:scatterChart>
        <c:scatterStyle val="lineMarker"/>
        <c:varyColors val="0"/>
        <c:ser>
          <c:idx val="0"/>
          <c:order val="0"/>
          <c:tx>
            <c:strRef>
              <c:f>'추가 분석 예시_Si2H6'!$B$2</c:f>
              <c:strCache>
                <c:ptCount val="1"/>
                <c:pt idx="0">
                  <c:v>Run1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'추가 분석 예시_Si2H6'!$A$3:$A$33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xVal>
          <c:yVal>
            <c:numRef>
              <c:f>'추가 분석 예시_Si2H6'!$B$3:$B$33</c:f>
              <c:numCache>
                <c:formatCode>General</c:formatCode>
                <c:ptCount val="31"/>
                <c:pt idx="0">
                  <c:v>33.909999999999997</c:v>
                </c:pt>
                <c:pt idx="1">
                  <c:v>191.01</c:v>
                </c:pt>
                <c:pt idx="2">
                  <c:v>201.14</c:v>
                </c:pt>
                <c:pt idx="3">
                  <c:v>200.55</c:v>
                </c:pt>
                <c:pt idx="4">
                  <c:v>200.35</c:v>
                </c:pt>
                <c:pt idx="5">
                  <c:v>200.35</c:v>
                </c:pt>
                <c:pt idx="6">
                  <c:v>200.29</c:v>
                </c:pt>
                <c:pt idx="7">
                  <c:v>200.19</c:v>
                </c:pt>
                <c:pt idx="8">
                  <c:v>200.11</c:v>
                </c:pt>
                <c:pt idx="9">
                  <c:v>200.09</c:v>
                </c:pt>
                <c:pt idx="10">
                  <c:v>200.06</c:v>
                </c:pt>
                <c:pt idx="11">
                  <c:v>200.04</c:v>
                </c:pt>
                <c:pt idx="12">
                  <c:v>200.04</c:v>
                </c:pt>
                <c:pt idx="13">
                  <c:v>200.02</c:v>
                </c:pt>
                <c:pt idx="14">
                  <c:v>200.02</c:v>
                </c:pt>
                <c:pt idx="15">
                  <c:v>200</c:v>
                </c:pt>
                <c:pt idx="16">
                  <c:v>200.02</c:v>
                </c:pt>
                <c:pt idx="17">
                  <c:v>200</c:v>
                </c:pt>
                <c:pt idx="18">
                  <c:v>200</c:v>
                </c:pt>
                <c:pt idx="19">
                  <c:v>199.98</c:v>
                </c:pt>
                <c:pt idx="20">
                  <c:v>199.98</c:v>
                </c:pt>
                <c:pt idx="21">
                  <c:v>199.98</c:v>
                </c:pt>
                <c:pt idx="22">
                  <c:v>199.98</c:v>
                </c:pt>
                <c:pt idx="23">
                  <c:v>199.96</c:v>
                </c:pt>
                <c:pt idx="24">
                  <c:v>199.96</c:v>
                </c:pt>
                <c:pt idx="25">
                  <c:v>199.96</c:v>
                </c:pt>
                <c:pt idx="26">
                  <c:v>199.96</c:v>
                </c:pt>
                <c:pt idx="27">
                  <c:v>199.98</c:v>
                </c:pt>
                <c:pt idx="28">
                  <c:v>200.02</c:v>
                </c:pt>
                <c:pt idx="29">
                  <c:v>199.98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CEC-4937-84C4-42FDC8CB665C}"/>
            </c:ext>
          </c:extLst>
        </c:ser>
        <c:ser>
          <c:idx val="1"/>
          <c:order val="1"/>
          <c:tx>
            <c:strRef>
              <c:f>'추가 분석 예시_Si2H6'!$C$2</c:f>
              <c:strCache>
                <c:ptCount val="1"/>
                <c:pt idx="0">
                  <c:v>Run2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'추가 분석 예시_Si2H6'!$A$3:$A$33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xVal>
          <c:yVal>
            <c:numRef>
              <c:f>'추가 분석 예시_Si2H6'!$C$3:$C$33</c:f>
              <c:numCache>
                <c:formatCode>General</c:formatCode>
                <c:ptCount val="31"/>
                <c:pt idx="0">
                  <c:v>2.25</c:v>
                </c:pt>
                <c:pt idx="1">
                  <c:v>200.67</c:v>
                </c:pt>
                <c:pt idx="2">
                  <c:v>200.45</c:v>
                </c:pt>
                <c:pt idx="3">
                  <c:v>200.45</c:v>
                </c:pt>
                <c:pt idx="4">
                  <c:v>200.31</c:v>
                </c:pt>
                <c:pt idx="5">
                  <c:v>200.21</c:v>
                </c:pt>
                <c:pt idx="6">
                  <c:v>200.15</c:v>
                </c:pt>
                <c:pt idx="7">
                  <c:v>200.11</c:v>
                </c:pt>
                <c:pt idx="8">
                  <c:v>200.13</c:v>
                </c:pt>
                <c:pt idx="9">
                  <c:v>200.09</c:v>
                </c:pt>
                <c:pt idx="10">
                  <c:v>200.06</c:v>
                </c:pt>
                <c:pt idx="11">
                  <c:v>200.04</c:v>
                </c:pt>
                <c:pt idx="12">
                  <c:v>200.04</c:v>
                </c:pt>
                <c:pt idx="13">
                  <c:v>200.02</c:v>
                </c:pt>
                <c:pt idx="14">
                  <c:v>200</c:v>
                </c:pt>
                <c:pt idx="15">
                  <c:v>200.02</c:v>
                </c:pt>
                <c:pt idx="16">
                  <c:v>200</c:v>
                </c:pt>
                <c:pt idx="17">
                  <c:v>199.98</c:v>
                </c:pt>
                <c:pt idx="18">
                  <c:v>199.98</c:v>
                </c:pt>
                <c:pt idx="19">
                  <c:v>199.98</c:v>
                </c:pt>
                <c:pt idx="20">
                  <c:v>199.96</c:v>
                </c:pt>
                <c:pt idx="21">
                  <c:v>199.96</c:v>
                </c:pt>
                <c:pt idx="22">
                  <c:v>199.96</c:v>
                </c:pt>
                <c:pt idx="23">
                  <c:v>199.98</c:v>
                </c:pt>
                <c:pt idx="24">
                  <c:v>199.96</c:v>
                </c:pt>
                <c:pt idx="25">
                  <c:v>199.98</c:v>
                </c:pt>
                <c:pt idx="26">
                  <c:v>199.96</c:v>
                </c:pt>
                <c:pt idx="27">
                  <c:v>199.98</c:v>
                </c:pt>
                <c:pt idx="28">
                  <c:v>199.98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ECEC-4937-84C4-42FDC8CB665C}"/>
            </c:ext>
          </c:extLst>
        </c:ser>
        <c:ser>
          <c:idx val="2"/>
          <c:order val="2"/>
          <c:tx>
            <c:strRef>
              <c:f>'추가 분석 예시_Si2H6'!$D$2</c:f>
              <c:strCache>
                <c:ptCount val="1"/>
                <c:pt idx="0">
                  <c:v>Run3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'추가 분석 예시_Si2H6'!$A$3:$A$33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xVal>
          <c:yVal>
            <c:numRef>
              <c:f>'추가 분석 예시_Si2H6'!$D$3:$D$33</c:f>
              <c:numCache>
                <c:formatCode>General</c:formatCode>
                <c:ptCount val="31"/>
                <c:pt idx="0">
                  <c:v>25.19</c:v>
                </c:pt>
                <c:pt idx="1">
                  <c:v>191.81</c:v>
                </c:pt>
                <c:pt idx="2">
                  <c:v>200.98</c:v>
                </c:pt>
                <c:pt idx="3">
                  <c:v>200.45</c:v>
                </c:pt>
                <c:pt idx="4">
                  <c:v>200.25</c:v>
                </c:pt>
                <c:pt idx="5">
                  <c:v>200.11</c:v>
                </c:pt>
                <c:pt idx="6">
                  <c:v>199.98</c:v>
                </c:pt>
                <c:pt idx="7">
                  <c:v>199.98</c:v>
                </c:pt>
                <c:pt idx="8">
                  <c:v>199.98</c:v>
                </c:pt>
                <c:pt idx="9">
                  <c:v>199.98</c:v>
                </c:pt>
                <c:pt idx="10">
                  <c:v>199.98</c:v>
                </c:pt>
                <c:pt idx="11">
                  <c:v>199.98</c:v>
                </c:pt>
                <c:pt idx="12">
                  <c:v>199.98</c:v>
                </c:pt>
                <c:pt idx="13">
                  <c:v>199.98</c:v>
                </c:pt>
                <c:pt idx="14">
                  <c:v>199.98</c:v>
                </c:pt>
                <c:pt idx="15">
                  <c:v>199.98</c:v>
                </c:pt>
                <c:pt idx="16">
                  <c:v>199.98</c:v>
                </c:pt>
                <c:pt idx="17">
                  <c:v>199.98</c:v>
                </c:pt>
                <c:pt idx="18">
                  <c:v>199.98</c:v>
                </c:pt>
                <c:pt idx="19">
                  <c:v>199.98</c:v>
                </c:pt>
                <c:pt idx="20">
                  <c:v>199.98</c:v>
                </c:pt>
                <c:pt idx="21">
                  <c:v>199.98</c:v>
                </c:pt>
                <c:pt idx="22">
                  <c:v>199.98</c:v>
                </c:pt>
                <c:pt idx="23">
                  <c:v>199.98</c:v>
                </c:pt>
                <c:pt idx="24">
                  <c:v>199.98</c:v>
                </c:pt>
                <c:pt idx="25">
                  <c:v>199.98</c:v>
                </c:pt>
                <c:pt idx="26">
                  <c:v>199.98</c:v>
                </c:pt>
                <c:pt idx="27">
                  <c:v>199.98</c:v>
                </c:pt>
                <c:pt idx="28">
                  <c:v>199.98</c:v>
                </c:pt>
                <c:pt idx="29">
                  <c:v>199.98</c:v>
                </c:pt>
                <c:pt idx="30">
                  <c:v>199.98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ECEC-4937-84C4-42FDC8CB66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3889520"/>
        <c:axId val="493889160"/>
      </c:scatterChart>
      <c:catAx>
        <c:axId val="381814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1815112"/>
        <c:crosses val="autoZero"/>
        <c:auto val="0"/>
        <c:lblAlgn val="ctr"/>
        <c:lblOffset val="100"/>
        <c:tickLblSkip val="2"/>
        <c:noMultiLvlLbl val="0"/>
      </c:catAx>
      <c:valAx>
        <c:axId val="381815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1814032"/>
        <c:crosses val="autoZero"/>
        <c:crossBetween val="between"/>
      </c:valAx>
      <c:valAx>
        <c:axId val="49388916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93889520"/>
        <c:crosses val="max"/>
        <c:crossBetween val="midCat"/>
      </c:valAx>
      <c:valAx>
        <c:axId val="493889520"/>
        <c:scaling>
          <c:orientation val="minMax"/>
        </c:scaling>
        <c:delete val="0"/>
        <c:axPos val="t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93889160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7997403139418953E-3"/>
          <c:y val="0.8914996903162582"/>
          <c:w val="0.99440066566032492"/>
          <c:h val="3.231559914309858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ko-KR" sz="1000" b="0" i="0" u="none" strike="noStrike" baseline="0"/>
              <a:t>Target·3σ 범위 그래프</a:t>
            </a:r>
            <a:endParaRPr lang="en-US" altLang="ko-KR" sz="1000" baseline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3"/>
          <c:order val="3"/>
          <c:tx>
            <c:strRef>
              <c:f>'추가 분석 예시_Si2H6'!$E$2</c:f>
              <c:strCache>
                <c:ptCount val="1"/>
                <c:pt idx="0">
                  <c:v>Target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'추가 분석 예시_Si2H6'!$A$3:$A$33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'추가 분석 예시_Si2H6'!$E$3:$E$33</c:f>
              <c:numCache>
                <c:formatCode>General</c:formatCode>
                <c:ptCount val="31"/>
                <c:pt idx="0">
                  <c:v>200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  <c:pt idx="5">
                  <c:v>200</c:v>
                </c:pt>
                <c:pt idx="6">
                  <c:v>200</c:v>
                </c:pt>
                <c:pt idx="7">
                  <c:v>200</c:v>
                </c:pt>
                <c:pt idx="8">
                  <c:v>200</c:v>
                </c:pt>
                <c:pt idx="9">
                  <c:v>200</c:v>
                </c:pt>
                <c:pt idx="10">
                  <c:v>200</c:v>
                </c:pt>
                <c:pt idx="11">
                  <c:v>200</c:v>
                </c:pt>
                <c:pt idx="12">
                  <c:v>200</c:v>
                </c:pt>
                <c:pt idx="13">
                  <c:v>200</c:v>
                </c:pt>
                <c:pt idx="14">
                  <c:v>200</c:v>
                </c:pt>
                <c:pt idx="15">
                  <c:v>200</c:v>
                </c:pt>
                <c:pt idx="16">
                  <c:v>200</c:v>
                </c:pt>
                <c:pt idx="17">
                  <c:v>200</c:v>
                </c:pt>
                <c:pt idx="18">
                  <c:v>200</c:v>
                </c:pt>
                <c:pt idx="19">
                  <c:v>200</c:v>
                </c:pt>
                <c:pt idx="20">
                  <c:v>200</c:v>
                </c:pt>
                <c:pt idx="21">
                  <c:v>200</c:v>
                </c:pt>
                <c:pt idx="22">
                  <c:v>200</c:v>
                </c:pt>
                <c:pt idx="23">
                  <c:v>200</c:v>
                </c:pt>
                <c:pt idx="24">
                  <c:v>200</c:v>
                </c:pt>
                <c:pt idx="25">
                  <c:v>200</c:v>
                </c:pt>
                <c:pt idx="26">
                  <c:v>200</c:v>
                </c:pt>
                <c:pt idx="27">
                  <c:v>200</c:v>
                </c:pt>
                <c:pt idx="28">
                  <c:v>200</c:v>
                </c:pt>
                <c:pt idx="29">
                  <c:v>200</c:v>
                </c:pt>
                <c:pt idx="30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CE-4AD3-8A6D-29769043EBBD}"/>
            </c:ext>
          </c:extLst>
        </c:ser>
        <c:ser>
          <c:idx val="4"/>
          <c:order val="4"/>
          <c:tx>
            <c:v>USL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'추가 분석 예시_Si2H6'!$A$3:$A$33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'추가 분석 예시_Si2H6'!$H$3:$H$33</c:f>
              <c:numCache>
                <c:formatCode>General</c:formatCode>
                <c:ptCount val="31"/>
                <c:pt idx="0">
                  <c:v>200.63762433290768</c:v>
                </c:pt>
                <c:pt idx="1">
                  <c:v>200.63762433290768</c:v>
                </c:pt>
                <c:pt idx="2">
                  <c:v>200.63762433290768</c:v>
                </c:pt>
                <c:pt idx="3">
                  <c:v>200.63762433290768</c:v>
                </c:pt>
                <c:pt idx="4">
                  <c:v>200.63762433290768</c:v>
                </c:pt>
                <c:pt idx="5">
                  <c:v>200.63762433290768</c:v>
                </c:pt>
                <c:pt idx="6">
                  <c:v>200.63762433290768</c:v>
                </c:pt>
                <c:pt idx="7">
                  <c:v>200.63762433290768</c:v>
                </c:pt>
                <c:pt idx="8">
                  <c:v>200.63762433290768</c:v>
                </c:pt>
                <c:pt idx="9">
                  <c:v>200.63762433290768</c:v>
                </c:pt>
                <c:pt idx="10">
                  <c:v>200.63762433290768</c:v>
                </c:pt>
                <c:pt idx="11">
                  <c:v>200.63762433290768</c:v>
                </c:pt>
                <c:pt idx="12">
                  <c:v>200.63762433290768</c:v>
                </c:pt>
                <c:pt idx="13">
                  <c:v>200.63762433290768</c:v>
                </c:pt>
                <c:pt idx="14">
                  <c:v>200.63762433290768</c:v>
                </c:pt>
                <c:pt idx="15">
                  <c:v>200.63762433290768</c:v>
                </c:pt>
                <c:pt idx="16">
                  <c:v>200.63762433290768</c:v>
                </c:pt>
                <c:pt idx="17">
                  <c:v>200.63762433290768</c:v>
                </c:pt>
                <c:pt idx="18">
                  <c:v>200.63762433290768</c:v>
                </c:pt>
                <c:pt idx="19">
                  <c:v>200.63762433290768</c:v>
                </c:pt>
                <c:pt idx="20">
                  <c:v>200.63762433290768</c:v>
                </c:pt>
                <c:pt idx="21">
                  <c:v>200.63762433290768</c:v>
                </c:pt>
                <c:pt idx="22">
                  <c:v>200.63762433290768</c:v>
                </c:pt>
                <c:pt idx="23">
                  <c:v>200.63762433290768</c:v>
                </c:pt>
                <c:pt idx="24">
                  <c:v>200.63762433290768</c:v>
                </c:pt>
                <c:pt idx="25">
                  <c:v>200.63762433290768</c:v>
                </c:pt>
                <c:pt idx="26">
                  <c:v>200.63762433290768</c:v>
                </c:pt>
                <c:pt idx="27">
                  <c:v>200.63762433290768</c:v>
                </c:pt>
                <c:pt idx="28">
                  <c:v>200.63762433290768</c:v>
                </c:pt>
                <c:pt idx="29">
                  <c:v>200.63762433290768</c:v>
                </c:pt>
                <c:pt idx="30">
                  <c:v>200.63762433290768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CE-4AD3-8A6D-29769043EBBD}"/>
            </c:ext>
          </c:extLst>
        </c:ser>
        <c:ser>
          <c:idx val="5"/>
          <c:order val="5"/>
          <c:tx>
            <c:v>LSL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'추가 분석 예시_Si2H6'!$A$3:$A$33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'추가 분석 예시_Si2H6'!$I$3:$I$33</c:f>
              <c:numCache>
                <c:formatCode>General</c:formatCode>
                <c:ptCount val="31"/>
                <c:pt idx="0">
                  <c:v>199.36237566709232</c:v>
                </c:pt>
                <c:pt idx="1">
                  <c:v>199.36237566709232</c:v>
                </c:pt>
                <c:pt idx="2">
                  <c:v>199.36237566709232</c:v>
                </c:pt>
                <c:pt idx="3">
                  <c:v>199.36237566709232</c:v>
                </c:pt>
                <c:pt idx="4">
                  <c:v>199.36237566709232</c:v>
                </c:pt>
                <c:pt idx="5">
                  <c:v>199.36237566709232</c:v>
                </c:pt>
                <c:pt idx="6">
                  <c:v>199.36237566709232</c:v>
                </c:pt>
                <c:pt idx="7">
                  <c:v>199.36237566709232</c:v>
                </c:pt>
                <c:pt idx="8">
                  <c:v>199.36237566709232</c:v>
                </c:pt>
                <c:pt idx="9">
                  <c:v>199.36237566709232</c:v>
                </c:pt>
                <c:pt idx="10">
                  <c:v>199.36237566709232</c:v>
                </c:pt>
                <c:pt idx="11">
                  <c:v>199.36237566709232</c:v>
                </c:pt>
                <c:pt idx="12">
                  <c:v>199.36237566709232</c:v>
                </c:pt>
                <c:pt idx="13">
                  <c:v>199.36237566709232</c:v>
                </c:pt>
                <c:pt idx="14">
                  <c:v>199.36237566709232</c:v>
                </c:pt>
                <c:pt idx="15">
                  <c:v>199.36237566709232</c:v>
                </c:pt>
                <c:pt idx="16">
                  <c:v>199.36237566709232</c:v>
                </c:pt>
                <c:pt idx="17">
                  <c:v>199.36237566709232</c:v>
                </c:pt>
                <c:pt idx="18">
                  <c:v>199.36237566709232</c:v>
                </c:pt>
                <c:pt idx="19">
                  <c:v>199.36237566709232</c:v>
                </c:pt>
                <c:pt idx="20">
                  <c:v>199.36237566709232</c:v>
                </c:pt>
                <c:pt idx="21">
                  <c:v>199.36237566709232</c:v>
                </c:pt>
                <c:pt idx="22">
                  <c:v>199.36237566709232</c:v>
                </c:pt>
                <c:pt idx="23">
                  <c:v>199.36237566709232</c:v>
                </c:pt>
                <c:pt idx="24">
                  <c:v>199.36237566709232</c:v>
                </c:pt>
                <c:pt idx="25">
                  <c:v>199.36237566709232</c:v>
                </c:pt>
                <c:pt idx="26">
                  <c:v>199.36237566709232</c:v>
                </c:pt>
                <c:pt idx="27">
                  <c:v>199.36237566709232</c:v>
                </c:pt>
                <c:pt idx="28">
                  <c:v>199.36237566709232</c:v>
                </c:pt>
                <c:pt idx="29">
                  <c:v>199.36237566709232</c:v>
                </c:pt>
                <c:pt idx="30">
                  <c:v>199.36237566709232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CCE-4AD3-8A6D-29769043E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1814032"/>
        <c:axId val="381815112"/>
      </c:lineChart>
      <c:scatterChart>
        <c:scatterStyle val="lineMarker"/>
        <c:varyColors val="0"/>
        <c:ser>
          <c:idx val="0"/>
          <c:order val="0"/>
          <c:tx>
            <c:strRef>
              <c:f>'추가 분석 예시_Si2H6'!$B$2</c:f>
              <c:strCache>
                <c:ptCount val="1"/>
                <c:pt idx="0">
                  <c:v>Run1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'추가 분석 예시_Si2H6'!$A$3:$A$33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xVal>
          <c:yVal>
            <c:numRef>
              <c:f>'추가 분석 예시_Si2H6'!$B$3:$B$33</c:f>
              <c:numCache>
                <c:formatCode>General</c:formatCode>
                <c:ptCount val="31"/>
                <c:pt idx="0">
                  <c:v>33.909999999999997</c:v>
                </c:pt>
                <c:pt idx="1">
                  <c:v>191.01</c:v>
                </c:pt>
                <c:pt idx="2">
                  <c:v>201.14</c:v>
                </c:pt>
                <c:pt idx="3">
                  <c:v>200.55</c:v>
                </c:pt>
                <c:pt idx="4">
                  <c:v>200.35</c:v>
                </c:pt>
                <c:pt idx="5">
                  <c:v>200.35</c:v>
                </c:pt>
                <c:pt idx="6">
                  <c:v>200.29</c:v>
                </c:pt>
                <c:pt idx="7">
                  <c:v>200.19</c:v>
                </c:pt>
                <c:pt idx="8">
                  <c:v>200.11</c:v>
                </c:pt>
                <c:pt idx="9">
                  <c:v>200.09</c:v>
                </c:pt>
                <c:pt idx="10">
                  <c:v>200.06</c:v>
                </c:pt>
                <c:pt idx="11">
                  <c:v>200.04</c:v>
                </c:pt>
                <c:pt idx="12">
                  <c:v>200.04</c:v>
                </c:pt>
                <c:pt idx="13">
                  <c:v>200.02</c:v>
                </c:pt>
                <c:pt idx="14">
                  <c:v>200.02</c:v>
                </c:pt>
                <c:pt idx="15">
                  <c:v>200</c:v>
                </c:pt>
                <c:pt idx="16">
                  <c:v>200.02</c:v>
                </c:pt>
                <c:pt idx="17">
                  <c:v>200</c:v>
                </c:pt>
                <c:pt idx="18">
                  <c:v>200</c:v>
                </c:pt>
                <c:pt idx="19">
                  <c:v>199.98</c:v>
                </c:pt>
                <c:pt idx="20">
                  <c:v>199.98</c:v>
                </c:pt>
                <c:pt idx="21">
                  <c:v>199.98</c:v>
                </c:pt>
                <c:pt idx="22">
                  <c:v>199.98</c:v>
                </c:pt>
                <c:pt idx="23">
                  <c:v>199.96</c:v>
                </c:pt>
                <c:pt idx="24">
                  <c:v>199.96</c:v>
                </c:pt>
                <c:pt idx="25">
                  <c:v>199.96</c:v>
                </c:pt>
                <c:pt idx="26">
                  <c:v>199.96</c:v>
                </c:pt>
                <c:pt idx="27">
                  <c:v>199.98</c:v>
                </c:pt>
                <c:pt idx="28">
                  <c:v>200.02</c:v>
                </c:pt>
                <c:pt idx="29">
                  <c:v>199.98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CCE-4AD3-8A6D-29769043EBBD}"/>
            </c:ext>
          </c:extLst>
        </c:ser>
        <c:ser>
          <c:idx val="1"/>
          <c:order val="1"/>
          <c:tx>
            <c:strRef>
              <c:f>'추가 분석 예시_Si2H6'!$C$2</c:f>
              <c:strCache>
                <c:ptCount val="1"/>
                <c:pt idx="0">
                  <c:v>Run2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'추가 분석 예시_Si2H6'!$A$3:$A$33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xVal>
          <c:yVal>
            <c:numRef>
              <c:f>'추가 분석 예시_Si2H6'!$C$3:$C$33</c:f>
              <c:numCache>
                <c:formatCode>General</c:formatCode>
                <c:ptCount val="31"/>
                <c:pt idx="0">
                  <c:v>2.25</c:v>
                </c:pt>
                <c:pt idx="1">
                  <c:v>200.67</c:v>
                </c:pt>
                <c:pt idx="2">
                  <c:v>200.45</c:v>
                </c:pt>
                <c:pt idx="3">
                  <c:v>200.45</c:v>
                </c:pt>
                <c:pt idx="4">
                  <c:v>200.31</c:v>
                </c:pt>
                <c:pt idx="5">
                  <c:v>200.21</c:v>
                </c:pt>
                <c:pt idx="6">
                  <c:v>200.15</c:v>
                </c:pt>
                <c:pt idx="7">
                  <c:v>200.11</c:v>
                </c:pt>
                <c:pt idx="8">
                  <c:v>200.13</c:v>
                </c:pt>
                <c:pt idx="9">
                  <c:v>200.09</c:v>
                </c:pt>
                <c:pt idx="10">
                  <c:v>200.06</c:v>
                </c:pt>
                <c:pt idx="11">
                  <c:v>200.04</c:v>
                </c:pt>
                <c:pt idx="12">
                  <c:v>200.04</c:v>
                </c:pt>
                <c:pt idx="13">
                  <c:v>200.02</c:v>
                </c:pt>
                <c:pt idx="14">
                  <c:v>200</c:v>
                </c:pt>
                <c:pt idx="15">
                  <c:v>200.02</c:v>
                </c:pt>
                <c:pt idx="16">
                  <c:v>200</c:v>
                </c:pt>
                <c:pt idx="17">
                  <c:v>199.98</c:v>
                </c:pt>
                <c:pt idx="18">
                  <c:v>199.98</c:v>
                </c:pt>
                <c:pt idx="19">
                  <c:v>199.98</c:v>
                </c:pt>
                <c:pt idx="20">
                  <c:v>199.96</c:v>
                </c:pt>
                <c:pt idx="21">
                  <c:v>199.96</c:v>
                </c:pt>
                <c:pt idx="22">
                  <c:v>199.96</c:v>
                </c:pt>
                <c:pt idx="23">
                  <c:v>199.98</c:v>
                </c:pt>
                <c:pt idx="24">
                  <c:v>199.96</c:v>
                </c:pt>
                <c:pt idx="25">
                  <c:v>199.98</c:v>
                </c:pt>
                <c:pt idx="26">
                  <c:v>199.96</c:v>
                </c:pt>
                <c:pt idx="27">
                  <c:v>199.98</c:v>
                </c:pt>
                <c:pt idx="28">
                  <c:v>199.98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4CCE-4AD3-8A6D-29769043EBBD}"/>
            </c:ext>
          </c:extLst>
        </c:ser>
        <c:ser>
          <c:idx val="2"/>
          <c:order val="2"/>
          <c:tx>
            <c:strRef>
              <c:f>'추가 분석 예시_Si2H6'!$D$2</c:f>
              <c:strCache>
                <c:ptCount val="1"/>
                <c:pt idx="0">
                  <c:v>Run3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'추가 분석 예시_Si2H6'!$A$3:$A$33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xVal>
          <c:yVal>
            <c:numRef>
              <c:f>'추가 분석 예시_Si2H6'!$D$3:$D$33</c:f>
              <c:numCache>
                <c:formatCode>General</c:formatCode>
                <c:ptCount val="31"/>
                <c:pt idx="0">
                  <c:v>25.19</c:v>
                </c:pt>
                <c:pt idx="1">
                  <c:v>191.81</c:v>
                </c:pt>
                <c:pt idx="2">
                  <c:v>200.98</c:v>
                </c:pt>
                <c:pt idx="3">
                  <c:v>200.45</c:v>
                </c:pt>
                <c:pt idx="4">
                  <c:v>200.25</c:v>
                </c:pt>
                <c:pt idx="5">
                  <c:v>200.11</c:v>
                </c:pt>
                <c:pt idx="6">
                  <c:v>199.98</c:v>
                </c:pt>
                <c:pt idx="7">
                  <c:v>199.98</c:v>
                </c:pt>
                <c:pt idx="8">
                  <c:v>199.98</c:v>
                </c:pt>
                <c:pt idx="9">
                  <c:v>199.98</c:v>
                </c:pt>
                <c:pt idx="10">
                  <c:v>199.98</c:v>
                </c:pt>
                <c:pt idx="11">
                  <c:v>199.98</c:v>
                </c:pt>
                <c:pt idx="12">
                  <c:v>199.98</c:v>
                </c:pt>
                <c:pt idx="13">
                  <c:v>199.98</c:v>
                </c:pt>
                <c:pt idx="14">
                  <c:v>199.98</c:v>
                </c:pt>
                <c:pt idx="15">
                  <c:v>199.98</c:v>
                </c:pt>
                <c:pt idx="16">
                  <c:v>199.98</c:v>
                </c:pt>
                <c:pt idx="17">
                  <c:v>199.98</c:v>
                </c:pt>
                <c:pt idx="18">
                  <c:v>199.98</c:v>
                </c:pt>
                <c:pt idx="19">
                  <c:v>199.98</c:v>
                </c:pt>
                <c:pt idx="20">
                  <c:v>199.98</c:v>
                </c:pt>
                <c:pt idx="21">
                  <c:v>199.98</c:v>
                </c:pt>
                <c:pt idx="22">
                  <c:v>199.98</c:v>
                </c:pt>
                <c:pt idx="23">
                  <c:v>199.98</c:v>
                </c:pt>
                <c:pt idx="24">
                  <c:v>199.98</c:v>
                </c:pt>
                <c:pt idx="25">
                  <c:v>199.98</c:v>
                </c:pt>
                <c:pt idx="26">
                  <c:v>199.98</c:v>
                </c:pt>
                <c:pt idx="27">
                  <c:v>199.98</c:v>
                </c:pt>
                <c:pt idx="28">
                  <c:v>199.98</c:v>
                </c:pt>
                <c:pt idx="29">
                  <c:v>199.98</c:v>
                </c:pt>
                <c:pt idx="30">
                  <c:v>199.98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4CCE-4AD3-8A6D-29769043E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3889520"/>
        <c:axId val="493889160"/>
      </c:scatterChart>
      <c:catAx>
        <c:axId val="381814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1815112"/>
        <c:crosses val="autoZero"/>
        <c:auto val="0"/>
        <c:lblAlgn val="ctr"/>
        <c:lblOffset val="100"/>
        <c:tickLblSkip val="2"/>
        <c:noMultiLvlLbl val="0"/>
      </c:catAx>
      <c:valAx>
        <c:axId val="381815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1814032"/>
        <c:crosses val="autoZero"/>
        <c:crossBetween val="between"/>
      </c:valAx>
      <c:valAx>
        <c:axId val="49388916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93889520"/>
        <c:crosses val="max"/>
        <c:crossBetween val="midCat"/>
      </c:valAx>
      <c:valAx>
        <c:axId val="493889520"/>
        <c:scaling>
          <c:orientation val="minMax"/>
        </c:scaling>
        <c:delete val="0"/>
        <c:axPos val="t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93889160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7873191785818938"/>
          <c:w val="0.97299530235913811"/>
          <c:h val="0.121268099678059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 wrap="none" lIns="0" tIns="0" rIns="0" bIns="0" anchor="ctr" anchorCtr="1"/>
          <a:lstStyle/>
          <a:p>
            <a:pPr algn="l">
              <a:defRPr b="0" i="0" u="none"/>
            </a:pPr>
            <a:r>
              <a:rPr lang="en-US" altLang="ko-KR" sz="1200" b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Target Spec</a:t>
            </a:r>
            <a:r>
              <a:rPr lang="en-US" altLang="ko-KR" sz="1200" b="0" baseline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200" b="0" baseline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비교 차트</a:t>
            </a:r>
            <a:endParaRPr lang="ko-KR" altLang="en-US" b="0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dPt>
            <c:idx val="24"/>
            <c:invertIfNegative val="0"/>
            <c:bubble3D val="0"/>
            <c:spPr>
              <a:ln w="19050">
                <a:solidFill>
                  <a:srgbClr val="FF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14EC-425A-B645-132CA7D5FB5B}"/>
              </c:ext>
            </c:extLst>
          </c:dPt>
          <c:errBars>
            <c:errBarType val="both"/>
            <c:errValType val="cust"/>
            <c:noEndCap val="0"/>
            <c:plus>
              <c:numRef>
                <c:f>'과제 3-1 답변 예시'!$J$41:$J$65</c:f>
                <c:numCache>
                  <c:formatCode>General</c:formatCode>
                  <c:ptCount val="25"/>
                  <c:pt idx="0">
                    <c:v>393.45857142857085</c:v>
                  </c:pt>
                  <c:pt idx="1">
                    <c:v>391.1685714285727</c:v>
                  </c:pt>
                  <c:pt idx="2">
                    <c:v>363.3842857142854</c:v>
                  </c:pt>
                  <c:pt idx="3">
                    <c:v>347.35163265306255</c:v>
                  </c:pt>
                  <c:pt idx="4">
                    <c:v>345.25163265306128</c:v>
                  </c:pt>
                  <c:pt idx="5">
                    <c:v>345.22020408163098</c:v>
                  </c:pt>
                  <c:pt idx="6">
                    <c:v>349.87510204081627</c:v>
                  </c:pt>
                  <c:pt idx="7">
                    <c:v>348.65265306122501</c:v>
                  </c:pt>
                  <c:pt idx="8">
                    <c:v>353.81693877550924</c:v>
                  </c:pt>
                  <c:pt idx="9">
                    <c:v>359.69795918367254</c:v>
                  </c:pt>
                  <c:pt idx="10">
                    <c:v>340.47224489795917</c:v>
                  </c:pt>
                  <c:pt idx="11">
                    <c:v>338.39551020408135</c:v>
                  </c:pt>
                  <c:pt idx="12">
                    <c:v>334.34530612244907</c:v>
                  </c:pt>
                  <c:pt idx="13">
                    <c:v>328.55693877551039</c:v>
                  </c:pt>
                  <c:pt idx="14">
                    <c:v>321.60612244897948</c:v>
                  </c:pt>
                  <c:pt idx="15">
                    <c:v>249.88290474719406</c:v>
                  </c:pt>
                  <c:pt idx="16">
                    <c:v>310.8947155196438</c:v>
                  </c:pt>
                  <c:pt idx="17">
                    <c:v>353.24363034387716</c:v>
                  </c:pt>
                  <c:pt idx="18">
                    <c:v>358.35957142857114</c:v>
                  </c:pt>
                  <c:pt idx="19">
                    <c:v>379.19095408163275</c:v>
                  </c:pt>
                  <c:pt idx="20">
                    <c:v>295.67660560198919</c:v>
                  </c:pt>
                  <c:pt idx="21">
                    <c:v>298.29905458158055</c:v>
                  </c:pt>
                  <c:pt idx="22">
                    <c:v>220.2583322332539</c:v>
                  </c:pt>
                  <c:pt idx="23">
                    <c:v>263.18324159390249</c:v>
                  </c:pt>
                  <c:pt idx="24">
                    <c:v>315.60072292903851</c:v>
                  </c:pt>
                </c:numCache>
              </c:numRef>
            </c:plus>
            <c:minus>
              <c:numRef>
                <c:f>'과제 3-1 답변 예시'!$K$41:$K$65</c:f>
                <c:numCache>
                  <c:formatCode>General</c:formatCode>
                  <c:ptCount val="25"/>
                  <c:pt idx="0">
                    <c:v>567.82142857142935</c:v>
                  </c:pt>
                  <c:pt idx="1">
                    <c:v>553.77142857142735</c:v>
                  </c:pt>
                  <c:pt idx="2">
                    <c:v>460.23571428571449</c:v>
                  </c:pt>
                  <c:pt idx="3">
                    <c:v>431.31836734693752</c:v>
                  </c:pt>
                  <c:pt idx="4">
                    <c:v>439.5483673469389</c:v>
                  </c:pt>
                  <c:pt idx="5">
                    <c:v>452.39979591836891</c:v>
                  </c:pt>
                  <c:pt idx="6">
                    <c:v>440.03489795918404</c:v>
                  </c:pt>
                  <c:pt idx="7">
                    <c:v>447.39734693877517</c:v>
                  </c:pt>
                  <c:pt idx="8">
                    <c:v>455.31306122449087</c:v>
                  </c:pt>
                  <c:pt idx="9">
                    <c:v>474.59204081632743</c:v>
                  </c:pt>
                  <c:pt idx="10">
                    <c:v>436.15775510204048</c:v>
                  </c:pt>
                  <c:pt idx="11">
                    <c:v>434.224489795919</c:v>
                  </c:pt>
                  <c:pt idx="12">
                    <c:v>427.51469387755105</c:v>
                  </c:pt>
                  <c:pt idx="13">
                    <c:v>417.12306122448945</c:v>
                  </c:pt>
                  <c:pt idx="14">
                    <c:v>417.87387755102054</c:v>
                  </c:pt>
                  <c:pt idx="15">
                    <c:v>334.36813505280634</c:v>
                  </c:pt>
                  <c:pt idx="16">
                    <c:v>375.85578178035666</c:v>
                  </c:pt>
                  <c:pt idx="17">
                    <c:v>400.81053920612248</c:v>
                  </c:pt>
                  <c:pt idx="18">
                    <c:v>455.25542857142864</c:v>
                  </c:pt>
                  <c:pt idx="19">
                    <c:v>479.79579591836682</c:v>
                  </c:pt>
                  <c:pt idx="20">
                    <c:v>327.95815343684535</c:v>
                  </c:pt>
                  <c:pt idx="21">
                    <c:v>310.1666263352713</c:v>
                  </c:pt>
                  <c:pt idx="22">
                    <c:v>290.859744847196</c:v>
                  </c:pt>
                  <c:pt idx="23">
                    <c:v>297.63013180582084</c:v>
                  </c:pt>
                  <c:pt idx="24">
                    <c:v>321.58731462482683</c:v>
                  </c:pt>
                </c:numCache>
              </c:numRef>
            </c:minus>
          </c:errBars>
          <c:cat>
            <c:strRef>
              <c:f>'과제 3-1 답변 예시'!$E$41:$E$65</c:f>
              <c:strCache>
                <c:ptCount val="25"/>
                <c:pt idx="0">
                  <c:v>FT0524_Pre</c:v>
                </c:pt>
                <c:pt idx="1">
                  <c:v>FT0524_Pre</c:v>
                </c:pt>
                <c:pt idx="2">
                  <c:v>FT0524_run1</c:v>
                </c:pt>
                <c:pt idx="3">
                  <c:v>FT0524_run2</c:v>
                </c:pt>
                <c:pt idx="4">
                  <c:v>FT0524_run3</c:v>
                </c:pt>
                <c:pt idx="5">
                  <c:v>FT0524_run4</c:v>
                </c:pt>
                <c:pt idx="6">
                  <c:v>FT0524_run5</c:v>
                </c:pt>
                <c:pt idx="7">
                  <c:v>FT0524_run6</c:v>
                </c:pt>
                <c:pt idx="8">
                  <c:v>FT0524_run7</c:v>
                </c:pt>
                <c:pt idx="9">
                  <c:v>FT0524_run8</c:v>
                </c:pt>
                <c:pt idx="10">
                  <c:v>FT0524_run9</c:v>
                </c:pt>
                <c:pt idx="11">
                  <c:v>FT0524_run10</c:v>
                </c:pt>
                <c:pt idx="12">
                  <c:v>FT0524_run11</c:v>
                </c:pt>
                <c:pt idx="13">
                  <c:v>FT0524_run12</c:v>
                </c:pt>
                <c:pt idx="14">
                  <c:v>FT0524_run13</c:v>
                </c:pt>
                <c:pt idx="15">
                  <c:v>FT0524_run14</c:v>
                </c:pt>
                <c:pt idx="16">
                  <c:v>FT0524_run15</c:v>
                </c:pt>
                <c:pt idx="17">
                  <c:v>FT0524_run16</c:v>
                </c:pt>
                <c:pt idx="18">
                  <c:v>FT0524_run17</c:v>
                </c:pt>
                <c:pt idx="19">
                  <c:v>FT0524_run18</c:v>
                </c:pt>
                <c:pt idx="20">
                  <c:v>FT0524_run19</c:v>
                </c:pt>
                <c:pt idx="21">
                  <c:v>FT0524_run20</c:v>
                </c:pt>
                <c:pt idx="22">
                  <c:v>FT0524_run21</c:v>
                </c:pt>
                <c:pt idx="23">
                  <c:v>FT0524_run22</c:v>
                </c:pt>
                <c:pt idx="24">
                  <c:v>FT0524_run23</c:v>
                </c:pt>
              </c:strCache>
            </c:strRef>
          </c:cat>
          <c:val>
            <c:numRef>
              <c:f>'과제 3-1 답변 예시'!$F$41:$F$65</c:f>
              <c:numCache>
                <c:formatCode>General</c:formatCode>
                <c:ptCount val="25"/>
                <c:pt idx="0">
                  <c:v>3304.1714285714293</c:v>
                </c:pt>
                <c:pt idx="1">
                  <c:v>3337.8514285714273</c:v>
                </c:pt>
                <c:pt idx="2">
                  <c:v>3296.5657142857144</c:v>
                </c:pt>
                <c:pt idx="3">
                  <c:v>3149.4183673469374</c:v>
                </c:pt>
                <c:pt idx="4">
                  <c:v>3146.3583673469388</c:v>
                </c:pt>
                <c:pt idx="5">
                  <c:v>3181.3797959183689</c:v>
                </c:pt>
                <c:pt idx="6">
                  <c:v>3223.6748979591839</c:v>
                </c:pt>
                <c:pt idx="7">
                  <c:v>3244.7273469387751</c:v>
                </c:pt>
                <c:pt idx="8">
                  <c:v>3268.0130612244907</c:v>
                </c:pt>
                <c:pt idx="9">
                  <c:v>3292.3420408163274</c:v>
                </c:pt>
                <c:pt idx="10">
                  <c:v>3137.0177551020406</c:v>
                </c:pt>
                <c:pt idx="11">
                  <c:v>3090.1944897959188</c:v>
                </c:pt>
                <c:pt idx="12">
                  <c:v>3104.9146938775511</c:v>
                </c:pt>
                <c:pt idx="13">
                  <c:v>3018.0030612244896</c:v>
                </c:pt>
                <c:pt idx="14">
                  <c:v>2988.3738775510205</c:v>
                </c:pt>
                <c:pt idx="15">
                  <c:v>2238.6180720528064</c:v>
                </c:pt>
                <c:pt idx="16">
                  <c:v>2613.7812224928566</c:v>
                </c:pt>
                <c:pt idx="17">
                  <c:v>2981.4640802061226</c:v>
                </c:pt>
                <c:pt idx="18">
                  <c:v>2894.5714285714294</c:v>
                </c:pt>
                <c:pt idx="19">
                  <c:v>2721.9897959183672</c:v>
                </c:pt>
                <c:pt idx="20">
                  <c:v>3143.8775510204068</c:v>
                </c:pt>
                <c:pt idx="21">
                  <c:v>3053.2551020408159</c:v>
                </c:pt>
                <c:pt idx="22">
                  <c:v>2549.7268730000001</c:v>
                </c:pt>
                <c:pt idx="23">
                  <c:v>2842.1118774074939</c:v>
                </c:pt>
                <c:pt idx="24">
                  <c:v>3154.6143759541687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EC-425A-B645-132CA7D5FB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80689819"/>
        <c:axId val="318486441"/>
      </c:barChart>
      <c:lineChart>
        <c:grouping val="standard"/>
        <c:varyColors val="0"/>
        <c:ser>
          <c:idx val="2"/>
          <c:order val="2"/>
          <c:spPr>
            <a:ln w="28575" cap="rnd" cmpd="sng" algn="ctr">
              <a:solidFill>
                <a:srgbClr val="FF0000"/>
              </a:solidFill>
              <a:prstDash val="solid"/>
              <a:round/>
              <a:headEnd w="med" len="med"/>
              <a:tailEnd w="med" len="med"/>
            </a:ln>
          </c:spPr>
          <c:marker>
            <c:symbol val="none"/>
          </c:marker>
          <c:cat>
            <c:strRef>
              <c:f>'과제 3-1 답변 예시'!$E$41:$E$65</c:f>
              <c:strCache>
                <c:ptCount val="25"/>
                <c:pt idx="0">
                  <c:v>FT0524_Pre</c:v>
                </c:pt>
                <c:pt idx="1">
                  <c:v>FT0524_Pre</c:v>
                </c:pt>
                <c:pt idx="2">
                  <c:v>FT0524_run1</c:v>
                </c:pt>
                <c:pt idx="3">
                  <c:v>FT0524_run2</c:v>
                </c:pt>
                <c:pt idx="4">
                  <c:v>FT0524_run3</c:v>
                </c:pt>
                <c:pt idx="5">
                  <c:v>FT0524_run4</c:v>
                </c:pt>
                <c:pt idx="6">
                  <c:v>FT0524_run5</c:v>
                </c:pt>
                <c:pt idx="7">
                  <c:v>FT0524_run6</c:v>
                </c:pt>
                <c:pt idx="8">
                  <c:v>FT0524_run7</c:v>
                </c:pt>
                <c:pt idx="9">
                  <c:v>FT0524_run8</c:v>
                </c:pt>
                <c:pt idx="10">
                  <c:v>FT0524_run9</c:v>
                </c:pt>
                <c:pt idx="11">
                  <c:v>FT0524_run10</c:v>
                </c:pt>
                <c:pt idx="12">
                  <c:v>FT0524_run11</c:v>
                </c:pt>
                <c:pt idx="13">
                  <c:v>FT0524_run12</c:v>
                </c:pt>
                <c:pt idx="14">
                  <c:v>FT0524_run13</c:v>
                </c:pt>
                <c:pt idx="15">
                  <c:v>FT0524_run14</c:v>
                </c:pt>
                <c:pt idx="16">
                  <c:v>FT0524_run15</c:v>
                </c:pt>
                <c:pt idx="17">
                  <c:v>FT0524_run16</c:v>
                </c:pt>
                <c:pt idx="18">
                  <c:v>FT0524_run17</c:v>
                </c:pt>
                <c:pt idx="19">
                  <c:v>FT0524_run18</c:v>
                </c:pt>
                <c:pt idx="20">
                  <c:v>FT0524_run19</c:v>
                </c:pt>
                <c:pt idx="21">
                  <c:v>FT0524_run20</c:v>
                </c:pt>
                <c:pt idx="22">
                  <c:v>FT0524_run21</c:v>
                </c:pt>
                <c:pt idx="23">
                  <c:v>FT0524_run22</c:v>
                </c:pt>
                <c:pt idx="24">
                  <c:v>FT0524_run23</c:v>
                </c:pt>
              </c:strCache>
            </c:strRef>
          </c:cat>
          <c:val>
            <c:numRef>
              <c:f>'과제 3-1 답변 예시'!$H$41:$H$65</c:f>
              <c:numCache>
                <c:formatCode>General</c:formatCode>
                <c:ptCount val="25"/>
                <c:pt idx="0">
                  <c:v>2800</c:v>
                </c:pt>
                <c:pt idx="1">
                  <c:v>2800</c:v>
                </c:pt>
                <c:pt idx="2">
                  <c:v>2800</c:v>
                </c:pt>
                <c:pt idx="3">
                  <c:v>2800</c:v>
                </c:pt>
                <c:pt idx="4">
                  <c:v>2800</c:v>
                </c:pt>
                <c:pt idx="5">
                  <c:v>2800</c:v>
                </c:pt>
                <c:pt idx="6">
                  <c:v>2800</c:v>
                </c:pt>
                <c:pt idx="7">
                  <c:v>2800</c:v>
                </c:pt>
                <c:pt idx="8">
                  <c:v>2800</c:v>
                </c:pt>
                <c:pt idx="9">
                  <c:v>2800</c:v>
                </c:pt>
                <c:pt idx="10">
                  <c:v>2800</c:v>
                </c:pt>
                <c:pt idx="11">
                  <c:v>2800</c:v>
                </c:pt>
                <c:pt idx="12">
                  <c:v>2800</c:v>
                </c:pt>
                <c:pt idx="13">
                  <c:v>2800</c:v>
                </c:pt>
                <c:pt idx="14">
                  <c:v>2800</c:v>
                </c:pt>
                <c:pt idx="15">
                  <c:v>2800</c:v>
                </c:pt>
                <c:pt idx="16">
                  <c:v>2800</c:v>
                </c:pt>
                <c:pt idx="17">
                  <c:v>2800</c:v>
                </c:pt>
                <c:pt idx="18">
                  <c:v>2800</c:v>
                </c:pt>
                <c:pt idx="19">
                  <c:v>2800</c:v>
                </c:pt>
                <c:pt idx="20">
                  <c:v>2800</c:v>
                </c:pt>
                <c:pt idx="21">
                  <c:v>2800</c:v>
                </c:pt>
                <c:pt idx="22">
                  <c:v>2800</c:v>
                </c:pt>
                <c:pt idx="23">
                  <c:v>2800</c:v>
                </c:pt>
                <c:pt idx="24">
                  <c:v>2800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4EC-425A-B645-132CA7D5FB5B}"/>
            </c:ext>
          </c:extLst>
        </c:ser>
        <c:ser>
          <c:idx val="3"/>
          <c:order val="3"/>
          <c:spPr>
            <a:ln w="28575" cap="rnd" cmpd="sng" algn="ctr">
              <a:solidFill>
                <a:srgbClr val="FF0000"/>
              </a:solidFill>
              <a:prstDash val="solid"/>
              <a:round/>
              <a:headEnd w="med" len="med"/>
              <a:tailEnd w="med" len="med"/>
            </a:ln>
          </c:spPr>
          <c:marker>
            <c:symbol val="none"/>
          </c:marker>
          <c:cat>
            <c:strRef>
              <c:f>'과제 3-1 답변 예시'!$E$41:$E$65</c:f>
              <c:strCache>
                <c:ptCount val="25"/>
                <c:pt idx="0">
                  <c:v>FT0524_Pre</c:v>
                </c:pt>
                <c:pt idx="1">
                  <c:v>FT0524_Pre</c:v>
                </c:pt>
                <c:pt idx="2">
                  <c:v>FT0524_run1</c:v>
                </c:pt>
                <c:pt idx="3">
                  <c:v>FT0524_run2</c:v>
                </c:pt>
                <c:pt idx="4">
                  <c:v>FT0524_run3</c:v>
                </c:pt>
                <c:pt idx="5">
                  <c:v>FT0524_run4</c:v>
                </c:pt>
                <c:pt idx="6">
                  <c:v>FT0524_run5</c:v>
                </c:pt>
                <c:pt idx="7">
                  <c:v>FT0524_run6</c:v>
                </c:pt>
                <c:pt idx="8">
                  <c:v>FT0524_run7</c:v>
                </c:pt>
                <c:pt idx="9">
                  <c:v>FT0524_run8</c:v>
                </c:pt>
                <c:pt idx="10">
                  <c:v>FT0524_run9</c:v>
                </c:pt>
                <c:pt idx="11">
                  <c:v>FT0524_run10</c:v>
                </c:pt>
                <c:pt idx="12">
                  <c:v>FT0524_run11</c:v>
                </c:pt>
                <c:pt idx="13">
                  <c:v>FT0524_run12</c:v>
                </c:pt>
                <c:pt idx="14">
                  <c:v>FT0524_run13</c:v>
                </c:pt>
                <c:pt idx="15">
                  <c:v>FT0524_run14</c:v>
                </c:pt>
                <c:pt idx="16">
                  <c:v>FT0524_run15</c:v>
                </c:pt>
                <c:pt idx="17">
                  <c:v>FT0524_run16</c:v>
                </c:pt>
                <c:pt idx="18">
                  <c:v>FT0524_run17</c:v>
                </c:pt>
                <c:pt idx="19">
                  <c:v>FT0524_run18</c:v>
                </c:pt>
                <c:pt idx="20">
                  <c:v>FT0524_run19</c:v>
                </c:pt>
                <c:pt idx="21">
                  <c:v>FT0524_run20</c:v>
                </c:pt>
                <c:pt idx="22">
                  <c:v>FT0524_run21</c:v>
                </c:pt>
                <c:pt idx="23">
                  <c:v>FT0524_run22</c:v>
                </c:pt>
                <c:pt idx="24">
                  <c:v>FT0524_run23</c:v>
                </c:pt>
              </c:strCache>
            </c:strRef>
          </c:cat>
          <c:val>
            <c:numRef>
              <c:f>'과제 3-1 답변 예시'!$I$41:$I$65</c:f>
              <c:numCache>
                <c:formatCode>General</c:formatCode>
                <c:ptCount val="25"/>
                <c:pt idx="0">
                  <c:v>3600</c:v>
                </c:pt>
                <c:pt idx="1">
                  <c:v>3600</c:v>
                </c:pt>
                <c:pt idx="2">
                  <c:v>3600</c:v>
                </c:pt>
                <c:pt idx="3">
                  <c:v>3600</c:v>
                </c:pt>
                <c:pt idx="4">
                  <c:v>3600</c:v>
                </c:pt>
                <c:pt idx="5">
                  <c:v>3600</c:v>
                </c:pt>
                <c:pt idx="6">
                  <c:v>3600</c:v>
                </c:pt>
                <c:pt idx="7">
                  <c:v>3600</c:v>
                </c:pt>
                <c:pt idx="8">
                  <c:v>3600</c:v>
                </c:pt>
                <c:pt idx="9">
                  <c:v>3600</c:v>
                </c:pt>
                <c:pt idx="10">
                  <c:v>3600</c:v>
                </c:pt>
                <c:pt idx="11">
                  <c:v>3600</c:v>
                </c:pt>
                <c:pt idx="12">
                  <c:v>3600</c:v>
                </c:pt>
                <c:pt idx="13">
                  <c:v>3600</c:v>
                </c:pt>
                <c:pt idx="14">
                  <c:v>3600</c:v>
                </c:pt>
                <c:pt idx="15">
                  <c:v>3600</c:v>
                </c:pt>
                <c:pt idx="16">
                  <c:v>3600</c:v>
                </c:pt>
                <c:pt idx="17">
                  <c:v>3600</c:v>
                </c:pt>
                <c:pt idx="18">
                  <c:v>3600</c:v>
                </c:pt>
                <c:pt idx="19">
                  <c:v>3600</c:v>
                </c:pt>
                <c:pt idx="20">
                  <c:v>3600</c:v>
                </c:pt>
                <c:pt idx="21">
                  <c:v>3600</c:v>
                </c:pt>
                <c:pt idx="22">
                  <c:v>3600</c:v>
                </c:pt>
                <c:pt idx="23">
                  <c:v>3600</c:v>
                </c:pt>
                <c:pt idx="24">
                  <c:v>3600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4EC-425A-B645-132CA7D5FB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0689819"/>
        <c:axId val="318486441"/>
      </c:lineChart>
      <c:lineChart>
        <c:grouping val="standard"/>
        <c:varyColors val="0"/>
        <c:ser>
          <c:idx val="1"/>
          <c:order val="1"/>
          <c:spPr>
            <a:ln w="28575" cap="rnd" cmpd="sng" algn="ctr">
              <a:solidFill>
                <a:srgbClr val="FF0000"/>
              </a:solidFill>
              <a:prstDash val="sysDash"/>
              <a:round/>
              <a:headEnd w="med" len="med"/>
              <a:tailEnd w="med" len="med"/>
            </a:ln>
          </c:spPr>
          <c:marker>
            <c:symbol val="none"/>
          </c:marker>
          <c:cat>
            <c:strRef>
              <c:f>'과제 3-1 답변 예시'!$E$41:$E$65</c:f>
              <c:strCache>
                <c:ptCount val="25"/>
                <c:pt idx="0">
                  <c:v>FT0524_Pre</c:v>
                </c:pt>
                <c:pt idx="1">
                  <c:v>FT0524_Pre</c:v>
                </c:pt>
                <c:pt idx="2">
                  <c:v>FT0524_run1</c:v>
                </c:pt>
                <c:pt idx="3">
                  <c:v>FT0524_run2</c:v>
                </c:pt>
                <c:pt idx="4">
                  <c:v>FT0524_run3</c:v>
                </c:pt>
                <c:pt idx="5">
                  <c:v>FT0524_run4</c:v>
                </c:pt>
                <c:pt idx="6">
                  <c:v>FT0524_run5</c:v>
                </c:pt>
                <c:pt idx="7">
                  <c:v>FT0524_run6</c:v>
                </c:pt>
                <c:pt idx="8">
                  <c:v>FT0524_run7</c:v>
                </c:pt>
                <c:pt idx="9">
                  <c:v>FT0524_run8</c:v>
                </c:pt>
                <c:pt idx="10">
                  <c:v>FT0524_run9</c:v>
                </c:pt>
                <c:pt idx="11">
                  <c:v>FT0524_run10</c:v>
                </c:pt>
                <c:pt idx="12">
                  <c:v>FT0524_run11</c:v>
                </c:pt>
                <c:pt idx="13">
                  <c:v>FT0524_run12</c:v>
                </c:pt>
                <c:pt idx="14">
                  <c:v>FT0524_run13</c:v>
                </c:pt>
                <c:pt idx="15">
                  <c:v>FT0524_run14</c:v>
                </c:pt>
                <c:pt idx="16">
                  <c:v>FT0524_run15</c:v>
                </c:pt>
                <c:pt idx="17">
                  <c:v>FT0524_run16</c:v>
                </c:pt>
                <c:pt idx="18">
                  <c:v>FT0524_run17</c:v>
                </c:pt>
                <c:pt idx="19">
                  <c:v>FT0524_run18</c:v>
                </c:pt>
                <c:pt idx="20">
                  <c:v>FT0524_run19</c:v>
                </c:pt>
                <c:pt idx="21">
                  <c:v>FT0524_run20</c:v>
                </c:pt>
                <c:pt idx="22">
                  <c:v>FT0524_run21</c:v>
                </c:pt>
                <c:pt idx="23">
                  <c:v>FT0524_run22</c:v>
                </c:pt>
                <c:pt idx="24">
                  <c:v>FT0524_run23</c:v>
                </c:pt>
              </c:strCache>
            </c:strRef>
          </c:cat>
          <c:val>
            <c:numRef>
              <c:f>'과제 3-1 답변 예시'!$G$41:$G$65</c:f>
              <c:numCache>
                <c:formatCode>General</c:formatCode>
                <c:ptCount val="25"/>
                <c:pt idx="0">
                  <c:v>3200</c:v>
                </c:pt>
                <c:pt idx="1">
                  <c:v>3200</c:v>
                </c:pt>
                <c:pt idx="2">
                  <c:v>3200</c:v>
                </c:pt>
                <c:pt idx="3">
                  <c:v>3200</c:v>
                </c:pt>
                <c:pt idx="4">
                  <c:v>3200</c:v>
                </c:pt>
                <c:pt idx="5">
                  <c:v>3200</c:v>
                </c:pt>
                <c:pt idx="6">
                  <c:v>3200</c:v>
                </c:pt>
                <c:pt idx="7">
                  <c:v>3200</c:v>
                </c:pt>
                <c:pt idx="8">
                  <c:v>3200</c:v>
                </c:pt>
                <c:pt idx="9">
                  <c:v>3200</c:v>
                </c:pt>
                <c:pt idx="10">
                  <c:v>3200</c:v>
                </c:pt>
                <c:pt idx="11">
                  <c:v>3200</c:v>
                </c:pt>
                <c:pt idx="12">
                  <c:v>3200</c:v>
                </c:pt>
                <c:pt idx="13">
                  <c:v>3200</c:v>
                </c:pt>
                <c:pt idx="14">
                  <c:v>3200</c:v>
                </c:pt>
                <c:pt idx="15">
                  <c:v>3200</c:v>
                </c:pt>
                <c:pt idx="16">
                  <c:v>3200</c:v>
                </c:pt>
                <c:pt idx="17">
                  <c:v>3200</c:v>
                </c:pt>
                <c:pt idx="18">
                  <c:v>3200</c:v>
                </c:pt>
                <c:pt idx="19">
                  <c:v>3200</c:v>
                </c:pt>
                <c:pt idx="20">
                  <c:v>3200</c:v>
                </c:pt>
                <c:pt idx="21">
                  <c:v>3200</c:v>
                </c:pt>
                <c:pt idx="22">
                  <c:v>3200</c:v>
                </c:pt>
                <c:pt idx="23">
                  <c:v>3200</c:v>
                </c:pt>
                <c:pt idx="24">
                  <c:v>3200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4EC-425A-B645-132CA7D5FB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0689819"/>
        <c:axId val="318486441"/>
      </c:lineChart>
      <c:catAx>
        <c:axId val="88068981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318486441"/>
        <c:crosses val="autoZero"/>
        <c:auto val="1"/>
        <c:lblAlgn val="ctr"/>
        <c:lblOffset val="100"/>
        <c:tickMarkSkip val="1"/>
        <c:noMultiLvlLbl val="0"/>
      </c:catAx>
      <c:valAx>
        <c:axId val="31848644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80689819"/>
        <c:crosses val="autoZero"/>
        <c:crossBetween val="between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plotVisOnly val="0"/>
    <c:dispBlanksAs val="gap"/>
    <c:showDLblsOverMax val="1"/>
  </c:chart>
  <c:txPr>
    <a:bodyPr rot="0" vert="horz" wrap="none" lIns="0" tIns="0" rIns="0" bIns="0" anchor="ctr" anchorCtr="1"/>
    <a:lstStyle/>
    <a:p>
      <a:pPr algn="l">
        <a:defRPr sz="1000" b="0" i="0" u="none">
          <a:latin typeface="Calibri"/>
          <a:ea typeface="맑은 고딕"/>
          <a:cs typeface="맑은 고딕"/>
          <a:sym typeface="맑은 고딕"/>
        </a:defRPr>
      </a:pPr>
      <a:endParaRPr lang="ko-KR"/>
    </a:p>
  </c:txPr>
  <c:externalData r:id="rId1">
    <c:autoUpdate val="0"/>
  </c:externalData>
  <c:extLst>
    <c:ext uri="CC8EB2C9-7E31-499d-B8F2-F6CE61031016">
      <ho:hncChartStyle xmlns:ho="http://schemas.haansoft.com/office/8.0" layoutIndex="-1" colorIndex="0" styleIndex="-1"/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위치별 오차 지표 평균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'과제 3-2 답변 예시'!$C$55</c:f>
              <c:strCache>
                <c:ptCount val="1"/>
                <c:pt idx="0">
                  <c:v>위치 별 오차 지표 평균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48"/>
            <c:invertIfNegative val="0"/>
            <c:bubble3D val="0"/>
            <c:spPr>
              <a:solidFill>
                <a:schemeClr val="accent2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66-46F8-A02D-9BA52BF34A3E}"/>
              </c:ext>
            </c:extLst>
          </c:dPt>
          <c:val>
            <c:numRef>
              <c:f>'과제 3-2 답변 예시'!$D$55:$AZ$55</c:f>
              <c:numCache>
                <c:formatCode>General</c:formatCode>
                <c:ptCount val="49"/>
                <c:pt idx="0">
                  <c:v>64.851597513350512</c:v>
                </c:pt>
                <c:pt idx="1">
                  <c:v>92.117375865373617</c:v>
                </c:pt>
                <c:pt idx="2">
                  <c:v>13.338853911033402</c:v>
                </c:pt>
                <c:pt idx="3">
                  <c:v>110.2157099172362</c:v>
                </c:pt>
                <c:pt idx="4">
                  <c:v>186.48166332898282</c:v>
                </c:pt>
                <c:pt idx="5">
                  <c:v>205.67915730595675</c:v>
                </c:pt>
                <c:pt idx="6">
                  <c:v>148.1735475245261</c:v>
                </c:pt>
                <c:pt idx="7">
                  <c:v>23.944647473716124</c:v>
                </c:pt>
                <c:pt idx="8">
                  <c:v>80.421773479654178</c:v>
                </c:pt>
                <c:pt idx="9">
                  <c:v>254.77574010726835</c:v>
                </c:pt>
                <c:pt idx="10">
                  <c:v>182.29196147706483</c:v>
                </c:pt>
                <c:pt idx="11">
                  <c:v>89.268075469022861</c:v>
                </c:pt>
                <c:pt idx="12">
                  <c:v>24.588410721320123</c:v>
                </c:pt>
                <c:pt idx="13">
                  <c:v>131.63058432702988</c:v>
                </c:pt>
                <c:pt idx="14">
                  <c:v>227.90716913823147</c:v>
                </c:pt>
                <c:pt idx="15">
                  <c:v>291.69900220081382</c:v>
                </c:pt>
                <c:pt idx="16">
                  <c:v>331.14743594246301</c:v>
                </c:pt>
                <c:pt idx="17">
                  <c:v>313.22083315663969</c:v>
                </c:pt>
                <c:pt idx="18">
                  <c:v>278.57345994863545</c:v>
                </c:pt>
                <c:pt idx="19">
                  <c:v>191.13870670551273</c:v>
                </c:pt>
                <c:pt idx="20">
                  <c:v>77.267075271105071</c:v>
                </c:pt>
                <c:pt idx="21">
                  <c:v>33.325383743947768</c:v>
                </c:pt>
                <c:pt idx="22">
                  <c:v>139.7187853862107</c:v>
                </c:pt>
                <c:pt idx="23">
                  <c:v>228.83740075372378</c:v>
                </c:pt>
                <c:pt idx="24">
                  <c:v>268.73080868510965</c:v>
                </c:pt>
                <c:pt idx="25">
                  <c:v>395.38725748671209</c:v>
                </c:pt>
                <c:pt idx="26">
                  <c:v>355.00019743728103</c:v>
                </c:pt>
                <c:pt idx="27">
                  <c:v>296.10881561973417</c:v>
                </c:pt>
                <c:pt idx="28">
                  <c:v>212.29543459068034</c:v>
                </c:pt>
                <c:pt idx="29">
                  <c:v>125.47781084773469</c:v>
                </c:pt>
                <c:pt idx="30">
                  <c:v>33.793802213099646</c:v>
                </c:pt>
                <c:pt idx="31">
                  <c:v>52.509865570546097</c:v>
                </c:pt>
                <c:pt idx="32">
                  <c:v>140.63266767582465</c:v>
                </c:pt>
                <c:pt idx="33">
                  <c:v>212.59035280736509</c:v>
                </c:pt>
                <c:pt idx="34">
                  <c:v>256.33452170638634</c:v>
                </c:pt>
                <c:pt idx="35">
                  <c:v>299.90011968680011</c:v>
                </c:pt>
                <c:pt idx="36">
                  <c:v>299.24461184376418</c:v>
                </c:pt>
                <c:pt idx="37">
                  <c:v>290.67441713371801</c:v>
                </c:pt>
                <c:pt idx="38">
                  <c:v>267.79197635028004</c:v>
                </c:pt>
                <c:pt idx="39">
                  <c:v>203.902591968579</c:v>
                </c:pt>
                <c:pt idx="40">
                  <c:v>119.8215420200472</c:v>
                </c:pt>
                <c:pt idx="41">
                  <c:v>36.188977376382553</c:v>
                </c:pt>
                <c:pt idx="42">
                  <c:v>52.528489936666823</c:v>
                </c:pt>
                <c:pt idx="43">
                  <c:v>153.22243462766886</c:v>
                </c:pt>
                <c:pt idx="44">
                  <c:v>255.98347634409956</c:v>
                </c:pt>
                <c:pt idx="45">
                  <c:v>334.6006142820093</c:v>
                </c:pt>
                <c:pt idx="46">
                  <c:v>386.08998521338481</c:v>
                </c:pt>
                <c:pt idx="47">
                  <c:v>413.24858780389872</c:v>
                </c:pt>
                <c:pt idx="48">
                  <c:v>420.21581865844718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66-46F8-A02D-9BA52BF34A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89941600"/>
        <c:axId val="1289920960"/>
      </c:barChart>
      <c:catAx>
        <c:axId val="12899416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89920960"/>
        <c:crosses val="autoZero"/>
        <c:auto val="1"/>
        <c:lblAlgn val="ctr"/>
        <c:lblOffset val="100"/>
        <c:noMultiLvlLbl val="0"/>
      </c:catAx>
      <c:valAx>
        <c:axId val="1289920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89941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C39D01F-AE27-9AD6-BA7A-384B0D18C8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505CB1-E86A-C757-720D-7488942B3B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9AA4B-35C4-4563-A4E9-56B5F8B73C86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0241C2-9A7A-F2B9-8692-01EFF72F5D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96854E-68AB-8F2F-1197-B77698DCF4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DB150-2878-4ED3-B30D-71314BBAA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0898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1606B-409C-4149-81B0-46E062DC47E7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AD8292-D0E9-460B-BB9C-FA7A45257E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6346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04AB0-AEC7-6D7C-CFC6-FF262951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5AF8E-4F5D-2240-5615-84C865811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FBFE6-8A57-F8A6-1045-8FAB5964F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한 사람에게 맞춘 선물을 만들고자 했지만 웹 프로젝트 구현 경험이 부족했습니다. AI로 초안을 만들고 대상에 맞게 문구와 선택지를 조정한 뒤 PC·모바일 동작을 확인했습니다.</a:t>
            </a:r>
          </a:p>
          <a:p>
            <a:r>
              <a:t>선택 분기·3개 엔딩·다시 시작 기능을 구현했습니다. AI 산출물을 그대로 쓰기보다 요구사항에 맞게 확인하고 수정하는 과정이 중요했습니다. 출처: 기존 포트폴리오 및 https://github.com/GREENMAMOS/python-data-and-ai-projects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AD561-04AE-17CA-6787-A217B34A3C4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2234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확인: 데이터 정리와 그래프 작성은 직접 수행했고 AI는 결과 해석에 제한적으로 활용. 교육용 데이터이며 양산 안정성이나 합격 판정을 주장하지 않음. 출처: https://github.com/GREENMAMOS/semiconductor-process-data-analysis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8B51-A93C-BF46-2612-308C99A14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65761D-177C-98D7-F76D-3E7E72FD3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0D289-A2E2-31D3-D5DB-80A92A873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확인: 데이터 정리와 그래프 작성은 직접 수행했고 AI는 결과 해석에 제한적으로 활용. 교육용 데이터이며 양산 안정성이나 합격 판정을 주장하지 않음. 출처: https://github.com/GREENMAMOS/semiconductor-process-data-analysis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F13B6-4EC4-952C-3F64-58F49F01C38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6204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A1142-BDDD-2C84-F14D-D4B9E38B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5CCD2-BC55-F627-3D12-56FC0E010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84B77-E051-D55E-3925-31285C66F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직접 분석. 기존 wafer 49-point map 유지. 후속 실험 후보는 추가 Split과 재현성 확인이 필요함. 출처: https://github.com/GREENMAMOS/semiconductor-process-data-analysis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37043-FCC0-1A83-CB39-6FA71CAD265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8260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직접 분석. 기존 wafer 49-point map 유지. 후속 실험 후보는 추가 Split과 재현성 확인이 필요함. 출처: https://github.com/GREENMAMOS/semiconductor-process-data-analysis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106FA-4D34-94E2-5EB1-B5CD2A36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5319E-A610-9815-9474-337A42434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FD089-9E5C-E214-8E50-6E34A0990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직접 분석. 기존 wafer 49-point map 유지. 후속 실험 후보는 추가 Split과 재현성 확인이 필요함. 출처: https://github.com/GREENMAMOS/semiconductor-process-data-analysis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92AF8-F2B9-58A8-4BD4-CD4B56C179A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8466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32B83-BA4F-952B-6965-C36F3555C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418AA-C420-47FB-551A-CE23AB7B9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0CC59C-EC51-D615-0BBD-6B147F50A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직접 분석. 기존 wafer 49-point map 유지. 후속 실험 후보는 추가 Split과 재현성 확인이 필요함. 출처: https://github.com/GREENMAMOS/semiconductor-process-data-analysis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C292C-F727-CF39-2920-82B32094022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6662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C7337-F3A6-2997-F7D2-10025611E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5F7112-24E9-D4C0-312D-4899BDDE3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27C34-5A21-0ACF-1BE4-DF84A04E6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직접 분석. 기존 wafer 49-point map 유지. 후속 실험 후보는 추가 Split과 재현성 확인이 필요함. 출처: https://github.com/GREENMAMOS/semiconductor-process-data-analysis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935CC-5E8E-4E60-83A1-54331563406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6625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0D84A-62E3-A299-4D39-69BC05A7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C48523-BB16-2087-35F2-836EC05C8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CEFA6-EEA1-119F-1191-0366F2869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직접 분석. 기존 wafer 49-point map 유지. 후속 실험 후보는 추가 Split과 재현성 확인이 필요함. 출처: https://github.com/GREENMAMOS/semiconductor-process-data-analysis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FED71-0A9E-F10D-220C-A6CC3C51004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1486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9D5B1-C8D6-BCD9-617D-A99FFD139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F310C-E7E9-47D4-A00C-4C1CA5B18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18C71-711A-795E-52E3-DF4AE6AC9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. </a:t>
            </a:r>
            <a:r>
              <a:rPr dirty="0" err="1"/>
              <a:t>기존</a:t>
            </a:r>
            <a:r>
              <a:rPr dirty="0"/>
              <a:t> wafer 49-point map </a:t>
            </a:r>
            <a:r>
              <a:rPr dirty="0" err="1"/>
              <a:t>유지</a:t>
            </a:r>
            <a:r>
              <a:rPr dirty="0"/>
              <a:t>. </a:t>
            </a:r>
            <a:r>
              <a:rPr dirty="0" err="1"/>
              <a:t>후속</a:t>
            </a:r>
            <a:r>
              <a:rPr dirty="0"/>
              <a:t>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후보는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Split과</a:t>
            </a:r>
            <a:r>
              <a:rPr dirty="0"/>
              <a:t> </a:t>
            </a:r>
            <a:r>
              <a:rPr dirty="0" err="1"/>
              <a:t>재현성</a:t>
            </a:r>
            <a:r>
              <a:rPr dirty="0"/>
              <a:t> </a:t>
            </a:r>
            <a:r>
              <a:rPr dirty="0" err="1"/>
              <a:t>확인이</a:t>
            </a:r>
            <a:r>
              <a:rPr dirty="0"/>
              <a:t> </a:t>
            </a:r>
            <a:r>
              <a:rPr dirty="0" err="1"/>
              <a:t>필요함</a:t>
            </a:r>
            <a:r>
              <a:rPr dirty="0"/>
              <a:t>. </a:t>
            </a:r>
            <a:r>
              <a:rPr dirty="0" err="1"/>
              <a:t>출처</a:t>
            </a:r>
            <a:r>
              <a:rPr dirty="0"/>
              <a:t>: https://github.com/GREENMAMOS/semiconductor-process-data-analysis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ED5D6-FF29-DAA7-374B-FE8A516B4D0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7097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285B1-4FD7-D157-3407-EF9BFC40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20815-DD56-3A20-7A81-76A146E88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4A6DB-262C-B099-E714-B66F78936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직접 분석. 기존 wafer 49-point map 유지. 후속 실험 후보는 추가 Split과 재현성 확인이 필요함. 출처: https://github.com/GREENMAMOS/semiconductor-process-data-analysis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EC9D5-7733-2A2B-5D9E-637F30BE39F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2729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331AA-A458-FFCA-775D-C206B0E7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2B9BB-1755-B49C-FFCF-83B1A6A13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60D46-DDE1-35E7-ECA4-BE423131A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직접 분석. 기존 wafer 49-point map 유지. 후속 실험 후보는 추가 Split과 재현성 확인이 필요함. 출처: https://github.com/GREENMAMOS/semiconductor-process-data-analysis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6D74C-AD13-424C-0E5D-870CC382039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7692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2DF7-5E67-EDBA-24DD-A0D2723A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BF3BD-237C-C973-EAAD-E15473557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FE056-ED78-C109-A6B3-9CF411A95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직접 분석. 기존 wafer 49-point map 유지. 후속 실험 후보는 추가 Split과 재현성 확인이 필요함. 출처: https://github.com/GREENMAMOS/semiconductor-process-data-analysis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60FE0-2ED0-664C-4362-3595B1CF3DC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7527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B56B9-E2C8-2A7B-2A5D-CF122DEDC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77611-663D-9198-983A-7F83285A2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C4CEF-D541-84AA-7848-FF2911ED6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직접 분석. 기존 wafer 49-point map 유지. 후속 실험 후보는 추가 Split과 재현성 확인이 필요함. 출처: https://github.com/GREENMAMOS/semiconductor-process-data-analysis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5DC2C-F0A5-49CD-E45A-25D6201649B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0564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B3B4B-8764-EC56-238B-25FA02F8A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EC206-E506-B285-7AD4-2DF780D99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8664B-249D-1355-7647-FF92854BB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19CB1-1610-8BDB-35C6-94918EDCBC6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9452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02237-0DAD-A1E9-0BF8-BE2481892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EFFE5A-A25A-14EC-14DE-F06A0B621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35E117-6125-565F-C5BF-23DA6AD15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5517AC-5DE2-DC2E-7953-E682001C3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E33D67-74B3-7AD8-4784-FBA4E36E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8D38-4B4D-4BBF-A5B2-65547028F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472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E39AE-803E-D461-9EEA-5EABB936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8106E-97BF-DFD7-E792-1F68411D6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93EB44-2FD5-7E87-C41B-D01A86B1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29F07C-3ECB-6096-16BC-71704079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783F62-CADF-0D7D-A074-4307E26BF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8D38-4B4D-4BBF-A5B2-65547028F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65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93511-72E0-FCC3-D8E1-F907C5AC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02A296-F459-B9BD-5D4C-3323414B9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80E2CA-3116-43DE-B3A0-AF791532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D88D07-C2FA-B1FB-84EA-ADE63EC1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1D1DE9-5F2A-4116-259A-971B04A7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8D38-4B4D-4BBF-A5B2-65547028F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50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83D36-AD5B-D9AE-64A3-BD3E3A21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D9CC9-552D-F5FF-0540-5CD21415D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51B6A2-9AFF-2B0C-A786-0E361C70D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41B626-DB23-4DE6-2942-862D7C5B5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A3775C-D348-7DE6-31D6-37879CBA5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EE139B-91FE-1A1F-803B-E957241F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8D38-4B4D-4BBF-A5B2-65547028F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193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DA038-2605-85E9-3FA6-9F7F29ECC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9621F9-A1C8-8BC4-81C3-22B0A9AFD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A9D092-76D9-6198-F092-0AB499B7A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CB363D2-B455-3472-88DB-965B96E51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970DB1-D983-4F47-1ED2-377E0CFA1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0946FA-6D75-21AE-7607-4B166F5F2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A0BFA1-1E34-6364-32A4-0C35C546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04518F-C28B-8BB0-8966-901D18DF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8D38-4B4D-4BBF-A5B2-65547028F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52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9C5D1-2EE8-136A-00DF-5C845D01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7B2349-CBF0-1850-94E4-F3E923DEC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6B518B-506E-66B2-3BC8-0703D916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C85C1C-87A4-9073-56F9-C17DF008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8D38-4B4D-4BBF-A5B2-65547028F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468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BE0A3D-ABC0-BA95-31A2-2F756EEB0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953043-9480-FA39-BC09-10E1F7F6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188C5-2116-02BE-84A2-3F768EC8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8D38-4B4D-4BBF-A5B2-65547028F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587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F30E1-D486-98C4-6B0C-7B155B4FF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5D31E0-7D94-A850-655E-E5828F183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053AC4-9A21-B5C7-9327-115CBDF1A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EDDB9B-6114-A89C-D830-8A2862F63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DA84C3-EC46-E2FA-224F-FF1B643F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C9036D-81F8-1620-422C-22D2B451A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8D38-4B4D-4BBF-A5B2-65547028F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353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94826-A02B-32F1-E5BF-671C3D331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61F43A-FD9E-7FF1-53F8-128904F1DA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69656-5F58-E216-50E7-827357FD6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5F39AB-B173-2802-C418-D4169182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1017C6-B8C6-1185-2BEE-E37F5C4B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C41B0C-C67E-30DF-FEC2-DA97D267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8D38-4B4D-4BBF-A5B2-65547028F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10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E26E9-9E10-4501-206D-1423520B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590639-B87B-FFC8-606B-F1DA7174D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F4213D-37FF-00E9-C637-858CB5CEB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0CBFE8-E4D6-6816-047A-ADD8B2507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094C7D-BCDD-9A98-7A89-FC750C8D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8D38-4B4D-4BBF-A5B2-65547028F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826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D6419E-AF22-6EA4-C3A2-2424618F5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6E1C6F-42E0-4E59-08D2-BDB256542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AAF1E-9EF9-2928-1201-D4FC3811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DE6E76-1F41-DDEB-7FFC-17708EFAC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31A7FD-1CA1-5283-D717-DE8534526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8D38-4B4D-4BBF-A5B2-65547028F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820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50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07A03F-70A2-AB2F-1E75-E5D86B6C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37011E-2A13-3605-A0C6-2300EE5CE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DCA95C-09B3-8ECE-89E6-97E5D27C7F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29DCF0-3F56-3C35-3F81-90C010B7F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F5E3AC-23E5-5E6E-69EB-BE38EA076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48D38-4B4D-4BBF-A5B2-65547028F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2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30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3911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03203" indent="-203203" algn="l">
        <a:lnSpc>
          <a:spcPct val="90000"/>
        </a:lnSpc>
        <a:spcBef>
          <a:spcPts val="889"/>
        </a:spcBef>
        <a:buChar char="•"/>
        <a:defRPr sz="2489">
          <a:solidFill>
            <a:schemeClr val="tx1"/>
          </a:solidFill>
          <a:latin typeface="+mn-lt"/>
          <a:ea typeface="+mn-lt"/>
          <a:cs typeface="+mn-lt"/>
        </a:defRPr>
      </a:lvl1pPr>
      <a:lvl2pPr marL="609608" indent="-203203" algn="l">
        <a:lnSpc>
          <a:spcPct val="90000"/>
        </a:lnSpc>
        <a:spcBef>
          <a:spcPts val="444"/>
        </a:spcBef>
        <a:buChar char="•"/>
        <a:defRPr sz="2133">
          <a:solidFill>
            <a:schemeClr val="tx1"/>
          </a:solidFill>
          <a:latin typeface="+mn-lt"/>
          <a:ea typeface="+mn-lt"/>
          <a:cs typeface="+mn-lt"/>
        </a:defRPr>
      </a:lvl2pPr>
      <a:lvl3pPr marL="1016013" indent="-203203" algn="l">
        <a:lnSpc>
          <a:spcPct val="90000"/>
        </a:lnSpc>
        <a:spcBef>
          <a:spcPts val="444"/>
        </a:spcBef>
        <a:buChar char="•"/>
        <a:defRPr sz="1778">
          <a:solidFill>
            <a:schemeClr val="tx1"/>
          </a:solidFill>
          <a:latin typeface="+mn-lt"/>
          <a:ea typeface="+mn-lt"/>
          <a:cs typeface="+mn-lt"/>
        </a:defRPr>
      </a:lvl3pPr>
      <a:lvl4pPr marL="1422418" indent="-203203" algn="l">
        <a:lnSpc>
          <a:spcPct val="90000"/>
        </a:lnSpc>
        <a:spcBef>
          <a:spcPts val="444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4pPr>
      <a:lvl5pPr marL="1828823" indent="-203203" algn="l">
        <a:lnSpc>
          <a:spcPct val="90000"/>
        </a:lnSpc>
        <a:spcBef>
          <a:spcPts val="444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5pPr>
      <a:lvl6pPr marL="2235228" indent="-203203" algn="l">
        <a:lnSpc>
          <a:spcPct val="90000"/>
        </a:lnSpc>
        <a:spcBef>
          <a:spcPts val="444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6pPr>
      <a:lvl7pPr marL="2641633" indent="-203203" algn="l">
        <a:lnSpc>
          <a:spcPct val="90000"/>
        </a:lnSpc>
        <a:spcBef>
          <a:spcPts val="444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7pPr>
      <a:lvl8pPr marL="3048038" indent="-203203" algn="l">
        <a:lnSpc>
          <a:spcPct val="90000"/>
        </a:lnSpc>
        <a:spcBef>
          <a:spcPts val="444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8pPr>
      <a:lvl9pPr marL="3454443" indent="-203203" algn="l">
        <a:lnSpc>
          <a:spcPct val="90000"/>
        </a:lnSpc>
        <a:spcBef>
          <a:spcPts val="444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1pPr>
      <a:lvl2pPr marL="406405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2pPr>
      <a:lvl3pPr marL="812810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3pPr>
      <a:lvl4pPr marL="1219215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4pPr>
      <a:lvl5pPr marL="1625620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5pPr>
      <a:lvl6pPr marL="2032025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6pPr>
      <a:lvl7pPr marL="2438430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7pPr>
      <a:lvl8pPr marL="2844836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8pPr>
      <a:lvl9pPr marL="3251241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wyoo178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REENMAMO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5F6F5"/>
            </a:gs>
            <a:gs pos="100000">
              <a:srgbClr val="FF617B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44649-EFD3-D9BA-68B4-AE2E0D42A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C537CC3-7282-8F68-ED05-9CE795D31AAB}"/>
              </a:ext>
            </a:extLst>
          </p:cNvPr>
          <p:cNvSpPr>
            <a:spLocks noGrp="1"/>
          </p:cNvSpPr>
          <p:nvPr/>
        </p:nvSpPr>
        <p:spPr>
          <a:xfrm>
            <a:off x="457200" y="1269999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공정데이터 분석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AE5398-F536-3F0D-6679-7A54E0EB4041}"/>
              </a:ext>
            </a:extLst>
          </p:cNvPr>
          <p:cNvSpPr>
            <a:spLocks noGrp="1"/>
          </p:cNvSpPr>
          <p:nvPr/>
        </p:nvSpPr>
        <p:spPr>
          <a:xfrm>
            <a:off x="457200" y="1718733"/>
            <a:ext cx="10583333" cy="1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5700" b="1">
                <a:solidFill>
                  <a:srgbClr val="292C29"/>
                </a:solidFill>
                <a:latin typeface="Malgun Gothic"/>
                <a:ea typeface="Malgun Gothic"/>
                <a:cs typeface="Malgun Gothic"/>
              </a:defRPr>
            </a:pPr>
            <a:r>
              <a:rPr sz="5067" b="1" dirty="0" err="1">
                <a:solidFill>
                  <a:srgbClr val="292C29"/>
                </a:solidFill>
                <a:latin typeface="Malgun Gothic"/>
                <a:ea typeface="Malgun Gothic"/>
                <a:cs typeface="Malgun Gothic"/>
              </a:rPr>
              <a:t>포트폴리오</a:t>
            </a:r>
            <a:endParaRPr sz="5067" b="1" dirty="0">
              <a:solidFill>
                <a:srgbClr val="292C2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16893F-FF3A-BAB8-14FE-6C8286F7FA06}"/>
              </a:ext>
            </a:extLst>
          </p:cNvPr>
          <p:cNvSpPr>
            <a:spLocks noGrp="1"/>
          </p:cNvSpPr>
          <p:nvPr/>
        </p:nvSpPr>
        <p:spPr>
          <a:xfrm>
            <a:off x="457200" y="3166534"/>
            <a:ext cx="9567333" cy="9736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400" b="0">
                <a:solidFill>
                  <a:srgbClr val="292C2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133" dirty="0">
                <a:solidFill>
                  <a:srgbClr val="292C29"/>
                </a:solidFill>
                <a:latin typeface="Malgun Gothic"/>
                <a:ea typeface="Malgun Gothic"/>
              </a:rPr>
              <a:t>공정과 </a:t>
            </a:r>
            <a:r>
              <a:rPr lang="ko-KR" altLang="ko-KR" sz="2133" dirty="0">
                <a:solidFill>
                  <a:srgbClr val="292C29"/>
                </a:solidFill>
                <a:latin typeface="Malgun Gothic"/>
                <a:ea typeface="Malgun Gothic"/>
              </a:rPr>
              <a:t>소자 특성을 이해하고</a:t>
            </a:r>
            <a:br>
              <a:rPr lang="ko-KR" altLang="ko-KR" sz="2133" dirty="0">
                <a:solidFill>
                  <a:srgbClr val="292C29"/>
                </a:solidFill>
                <a:latin typeface="Malgun Gothic"/>
                <a:ea typeface="Malgun Gothic"/>
              </a:rPr>
            </a:br>
            <a:r>
              <a:rPr lang="ko-KR" altLang="ko-KR" sz="2133" dirty="0">
                <a:solidFill>
                  <a:srgbClr val="292C29"/>
                </a:solidFill>
                <a:latin typeface="Malgun Gothic"/>
                <a:ea typeface="Malgun Gothic"/>
              </a:rPr>
              <a:t>데이터로 설계 판단을 뒷받침하는 엔지니어</a:t>
            </a:r>
            <a:endParaRPr sz="2133" dirty="0">
              <a:solidFill>
                <a:srgbClr val="292C2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F32FF0-B572-196F-9443-F339749C7DBC}"/>
              </a:ext>
            </a:extLst>
          </p:cNvPr>
          <p:cNvSpPr>
            <a:spLocks noGrp="1"/>
          </p:cNvSpPr>
          <p:nvPr/>
        </p:nvSpPr>
        <p:spPr>
          <a:xfrm>
            <a:off x="457200" y="5207000"/>
            <a:ext cx="8466667" cy="4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250" b="1">
                <a:solidFill>
                  <a:srgbClr val="292C29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>
                <a:solidFill>
                  <a:srgbClr val="292C29"/>
                </a:solidFill>
                <a:latin typeface="Malgun Gothic"/>
                <a:ea typeface="Malgun Gothic"/>
                <a:cs typeface="Malgun Gothic"/>
              </a:rPr>
              <a:t>유지원  JIWON YOO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EB57D3-54D7-8E2C-47BC-228381CF545F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8466667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1725" b="0">
                <a:solidFill>
                  <a:srgbClr val="292C29"/>
                </a:solidFill>
                <a:latin typeface="Malgun Gothic"/>
                <a:ea typeface="Malgun Gothic"/>
                <a:cs typeface="Malgun Gothic"/>
              </a:defRPr>
            </a:pPr>
            <a:r>
              <a:rPr sz="1533">
                <a:solidFill>
                  <a:srgbClr val="292C29"/>
                </a:solidFill>
                <a:latin typeface="Malgun Gothic"/>
                <a:ea typeface="Malgun Gothic"/>
                <a:cs typeface="Malgun Gothic"/>
              </a:rPr>
              <a:t>010-2796-6863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C7E04B-8196-406D-1251-BE1E8A9EB998}"/>
              </a:ext>
            </a:extLst>
          </p:cNvPr>
          <p:cNvSpPr>
            <a:spLocks noGrp="1"/>
          </p:cNvSpPr>
          <p:nvPr/>
        </p:nvSpPr>
        <p:spPr>
          <a:xfrm>
            <a:off x="457200" y="6079067"/>
            <a:ext cx="8466667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1725" b="0">
                <a:solidFill>
                  <a:srgbClr val="292C29"/>
                </a:solidFill>
                <a:latin typeface="Malgun Gothic"/>
                <a:ea typeface="Malgun Gothic"/>
                <a:cs typeface="Malgun Gothic"/>
              </a:defRPr>
            </a:pPr>
            <a:r>
              <a:rPr sz="1533">
                <a:solidFill>
                  <a:srgbClr val="292C29"/>
                </a:solidFill>
                <a:latin typeface="Malgun Gothic"/>
                <a:ea typeface="Malgun Gothic"/>
                <a:cs typeface="Malgun Gothic"/>
                <a:hlinkClick r:id="rId3"/>
              </a:rPr>
              <a:t>jwyoo178@naver.com</a:t>
            </a:r>
          </a:p>
        </p:txBody>
      </p:sp>
    </p:spTree>
    <p:extLst>
      <p:ext uri="{BB962C8B-B14F-4D97-AF65-F5344CB8AC3E}">
        <p14:creationId xmlns:p14="http://schemas.microsoft.com/office/powerpoint/2010/main" val="3392447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5F32293-7BDD-47D3-83B1-84CDD119012C}"/>
              </a:ext>
            </a:extLst>
          </p:cNvPr>
          <p:cNvSpPr>
            <a:spLocks noGrp="1"/>
          </p:cNvSpPr>
          <p:nvPr/>
        </p:nvSpPr>
        <p:spPr>
          <a:xfrm>
            <a:off x="645460" y="1135167"/>
            <a:ext cx="8790365" cy="51529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7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2446" b="1" dirty="0">
                <a:solidFill>
                  <a:srgbClr val="172C3D"/>
                </a:solidFill>
                <a:latin typeface="Malgun Gothic"/>
              </a:rPr>
              <a:t>전처리와 데이터 연결</a:t>
            </a:r>
            <a:endParaRPr sz="2446" b="1" dirty="0">
              <a:solidFill>
                <a:srgbClr val="172C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5C4DBC-0D7D-4ACE-82A5-B24D7A73D8E1}"/>
              </a:ext>
            </a:extLst>
          </p:cNvPr>
          <p:cNvSpPr>
            <a:spLocks noGrp="1"/>
          </p:cNvSpPr>
          <p:nvPr/>
        </p:nvSpPr>
        <p:spPr>
          <a:xfrm>
            <a:off x="645460" y="1762604"/>
            <a:ext cx="8790365" cy="4167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372" dirty="0" err="1">
                <a:solidFill>
                  <a:srgbClr val="536878"/>
                </a:solidFill>
                <a:latin typeface="Malgun Gothic"/>
                <a:ea typeface="Malgun Gothic"/>
                <a:cs typeface="Malgun Gothic"/>
              </a:rPr>
              <a:t>전처리</a:t>
            </a:r>
            <a:r>
              <a:rPr lang="ko-KR" altLang="en-US" sz="1372" dirty="0">
                <a:solidFill>
                  <a:srgbClr val="536878"/>
                </a:solidFill>
                <a:latin typeface="Malgun Gothic"/>
                <a:ea typeface="Malgun Gothic"/>
                <a:cs typeface="Malgun Gothic"/>
              </a:rPr>
              <a:t> 전 공정 </a:t>
            </a:r>
            <a:r>
              <a:rPr lang="en-US" altLang="ko-KR" sz="1372" dirty="0">
                <a:solidFill>
                  <a:srgbClr val="536878"/>
                </a:solidFill>
                <a:latin typeface="Malgun Gothic"/>
                <a:ea typeface="Malgun Gothic"/>
                <a:cs typeface="Malgun Gothic"/>
              </a:rPr>
              <a:t>data</a:t>
            </a:r>
            <a:endParaRPr sz="1372" dirty="0">
              <a:solidFill>
                <a:srgbClr val="5368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5B6585-E1D3-403E-8FEF-6BE14A879FA4}"/>
              </a:ext>
            </a:extLst>
          </p:cNvPr>
          <p:cNvSpPr>
            <a:spLocks noGrp="1"/>
          </p:cNvSpPr>
          <p:nvPr/>
        </p:nvSpPr>
        <p:spPr>
          <a:xfrm>
            <a:off x="660715" y="5429769"/>
            <a:ext cx="6556225" cy="81029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1750"/>
              </a:lnSpc>
            </a:pPr>
            <a:r>
              <a:rPr lang="ko-KR" altLang="ko-KR" sz="1273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공정 </a:t>
            </a:r>
            <a:r>
              <a:rPr lang="ko-KR" altLang="ko-KR" sz="1273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Input</a:t>
            </a:r>
            <a:r>
              <a:rPr lang="ko-KR" altLang="ko-KR" sz="1273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1273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전처리</a:t>
            </a:r>
            <a:r>
              <a:rPr lang="en-US" altLang="ko-KR" sz="1273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273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수행</a:t>
            </a: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ko-KR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ramp-up</a:t>
            </a:r>
            <a:r>
              <a:rPr lang="ko-KR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구간을 제외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하여 </a:t>
            </a:r>
            <a:r>
              <a:rPr lang="ko-KR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센서 </a:t>
            </a:r>
            <a:r>
              <a:rPr lang="ko-KR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유량·온도·압력</a:t>
            </a:r>
            <a:r>
              <a:rPr lang="ko-KR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데이터를 시간 순서로 정리</a:t>
            </a:r>
          </a:p>
          <a:p>
            <a:pPr marL="227343" indent="-227343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ko-KR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Run별</a:t>
            </a:r>
            <a:r>
              <a:rPr lang="ko-KR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안정 구간 비교</a:t>
            </a:r>
          </a:p>
          <a:p>
            <a:pPr marL="227343" indent="-227343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ko-KR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평균·표준편차·관리</a:t>
            </a:r>
            <a:r>
              <a:rPr lang="ko-KR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기준 계산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552322E-6649-9750-9EE5-84B9354D86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-506" b="3795"/>
          <a:stretch>
            <a:fillRect/>
          </a:stretch>
        </p:blipFill>
        <p:spPr>
          <a:xfrm>
            <a:off x="660715" y="2069044"/>
            <a:ext cx="9879244" cy="305428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B134A5B-8946-D3C3-7A42-DCCBF7172AE1}"/>
              </a:ext>
            </a:extLst>
          </p:cNvPr>
          <p:cNvSpPr>
            <a:spLocks noGrp="1"/>
          </p:cNvSpPr>
          <p:nvPr/>
        </p:nvSpPr>
        <p:spPr>
          <a:xfrm>
            <a:off x="457201" y="296334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Project 01. </a:t>
            </a:r>
            <a:r>
              <a:rPr lang="ko-KR" altLang="ko-KR" sz="2175" dirty="0">
                <a:solidFill>
                  <a:srgbClr val="FF4564"/>
                </a:solidFill>
                <a:latin typeface="Malgun Gothic"/>
              </a:rPr>
              <a:t>설비 센서 안정성</a:t>
            </a:r>
            <a:r>
              <a:rPr lang="en-US" altLang="ko-KR" sz="2175" dirty="0">
                <a:solidFill>
                  <a:srgbClr val="FF4564"/>
                </a:solidFill>
                <a:latin typeface="Malgun Gothic"/>
              </a:rPr>
              <a:t> </a:t>
            </a:r>
            <a:r>
              <a:rPr lang="ko-KR" altLang="en-US" sz="2175" dirty="0">
                <a:solidFill>
                  <a:srgbClr val="FF4564"/>
                </a:solidFill>
                <a:latin typeface="Malgun Gothic"/>
              </a:rPr>
              <a:t>확인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2D962-A1F2-C872-2E9C-255C4A169AB5}"/>
              </a:ext>
            </a:extLst>
          </p:cNvPr>
          <p:cNvSpPr txBox="1"/>
          <p:nvPr/>
        </p:nvSpPr>
        <p:spPr>
          <a:xfrm>
            <a:off x="11391089" y="639107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01/14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14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56CAD-5FD5-06EA-8950-A519E9FE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47168F8-667D-2407-7A00-E6754010BCBE}"/>
              </a:ext>
            </a:extLst>
          </p:cNvPr>
          <p:cNvSpPr>
            <a:spLocks noGrp="1"/>
          </p:cNvSpPr>
          <p:nvPr/>
        </p:nvSpPr>
        <p:spPr>
          <a:xfrm>
            <a:off x="457201" y="860654"/>
            <a:ext cx="8790365" cy="51529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7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46" b="1" dirty="0">
                <a:solidFill>
                  <a:srgbClr val="172C3D"/>
                </a:solidFill>
                <a:latin typeface="Malgun Gothic"/>
              </a:rPr>
              <a:t>결과 시각화 및 분석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A4B7FC-565F-B927-13D2-036C640E8A37}"/>
              </a:ext>
            </a:extLst>
          </p:cNvPr>
          <p:cNvSpPr>
            <a:spLocks noGrp="1"/>
          </p:cNvSpPr>
          <p:nvPr/>
        </p:nvSpPr>
        <p:spPr>
          <a:xfrm>
            <a:off x="457201" y="5160211"/>
            <a:ext cx="5050275" cy="134664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1830"/>
              </a:lnSpc>
            </a:pPr>
            <a:r>
              <a:rPr lang="ko-KR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유량 그래프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</a:t>
            </a:r>
            <a:r>
              <a:rPr lang="ko-KR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관리 범위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각각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</a:pPr>
            <a:r>
              <a:rPr lang="ko-KR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목표값</a:t>
            </a:r>
            <a:r>
              <a:rPr lang="ko-KR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200 기준으로 ±1%를 적용한 범위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설정값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기준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</a:pPr>
            <a:r>
              <a:rPr lang="ko-KR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안정 구간의 표준편차를 계산한 </a:t>
            </a:r>
            <a:r>
              <a:rPr lang="ko-KR" altLang="ko-KR" sz="1432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평균 ± 3σ</a:t>
            </a:r>
            <a:r>
              <a:rPr lang="ko-KR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범위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측정값 기준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</a:p>
          <a:p>
            <a:pPr>
              <a:lnSpc>
                <a:spcPts val="1830"/>
              </a:lnSpc>
            </a:pPr>
            <a:r>
              <a:rPr lang="ko-KR" altLang="en-US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으로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적용하여 시각화를 진행함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ts val="1830"/>
              </a:lnSpc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이를 통해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Run 1,2,3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Si</a:t>
            </a:r>
            <a:r>
              <a:rPr lang="en-US" altLang="ko-KR" sz="1273" baseline="-25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</a:t>
            </a:r>
            <a:r>
              <a:rPr lang="en-US" altLang="ko-KR" sz="1273" baseline="-25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6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flow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rate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 정상임을 확인함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76553EA3-159B-3707-A3A9-4D7251760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752580"/>
              </p:ext>
            </p:extLst>
          </p:nvPr>
        </p:nvGraphicFramePr>
        <p:xfrm>
          <a:off x="457200" y="1375950"/>
          <a:ext cx="4899661" cy="359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061646769"/>
                    </a:ext>
                  </a:extLst>
                </a:gridCol>
                <a:gridCol w="524488">
                  <a:extLst>
                    <a:ext uri="{9D8B030D-6E8A-4147-A177-3AD203B41FA5}">
                      <a16:colId xmlns:a16="http://schemas.microsoft.com/office/drawing/2014/main" val="673937130"/>
                    </a:ext>
                  </a:extLst>
                </a:gridCol>
                <a:gridCol w="524488">
                  <a:extLst>
                    <a:ext uri="{9D8B030D-6E8A-4147-A177-3AD203B41FA5}">
                      <a16:colId xmlns:a16="http://schemas.microsoft.com/office/drawing/2014/main" val="2156844002"/>
                    </a:ext>
                  </a:extLst>
                </a:gridCol>
                <a:gridCol w="419901">
                  <a:extLst>
                    <a:ext uri="{9D8B030D-6E8A-4147-A177-3AD203B41FA5}">
                      <a16:colId xmlns:a16="http://schemas.microsoft.com/office/drawing/2014/main" val="1796379474"/>
                    </a:ext>
                  </a:extLst>
                </a:gridCol>
                <a:gridCol w="428017">
                  <a:extLst>
                    <a:ext uri="{9D8B030D-6E8A-4147-A177-3AD203B41FA5}">
                      <a16:colId xmlns:a16="http://schemas.microsoft.com/office/drawing/2014/main" val="3683400831"/>
                    </a:ext>
                  </a:extLst>
                </a:gridCol>
                <a:gridCol w="564204">
                  <a:extLst>
                    <a:ext uri="{9D8B030D-6E8A-4147-A177-3AD203B41FA5}">
                      <a16:colId xmlns:a16="http://schemas.microsoft.com/office/drawing/2014/main" val="4156157778"/>
                    </a:ext>
                  </a:extLst>
                </a:gridCol>
                <a:gridCol w="544749">
                  <a:extLst>
                    <a:ext uri="{9D8B030D-6E8A-4147-A177-3AD203B41FA5}">
                      <a16:colId xmlns:a16="http://schemas.microsoft.com/office/drawing/2014/main" val="281223206"/>
                    </a:ext>
                  </a:extLst>
                </a:gridCol>
                <a:gridCol w="718307">
                  <a:extLst>
                    <a:ext uri="{9D8B030D-6E8A-4147-A177-3AD203B41FA5}">
                      <a16:colId xmlns:a16="http://schemas.microsoft.com/office/drawing/2014/main" val="1063589866"/>
                    </a:ext>
                  </a:extLst>
                </a:gridCol>
                <a:gridCol w="718307">
                  <a:extLst>
                    <a:ext uri="{9D8B030D-6E8A-4147-A177-3AD203B41FA5}">
                      <a16:colId xmlns:a16="http://schemas.microsoft.com/office/drawing/2014/main" val="3208853849"/>
                    </a:ext>
                  </a:extLst>
                </a:gridCol>
              </a:tblGrid>
              <a:tr h="2164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S26H6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1%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3sigma(Ramp-up 구간 제외)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3612"/>
                  </a:ext>
                </a:extLst>
              </a:tr>
              <a:tr h="2799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Process Time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Run1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Run2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Run3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Target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임의 USL1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임의 LSL1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임의 USL2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임의 LSL2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3110696390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33.91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2.25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25.19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200.6376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199.3624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122165809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191.01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191.81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199.3624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2207153185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201.14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199.3624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342028355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200.55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199.3624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3323833730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200.31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199.3624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1243916249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200.21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199.3624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2557590158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200.29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199.3624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3059797924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200.19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199.3624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2045151464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199.3624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2167005016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200.09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200.09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199.3624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1948223806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199.3624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3959454210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199.3624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2066692529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199.3624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3329297011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199.3624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1438296607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199.3624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2421825470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199.3624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2834488294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199.3624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4005776561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199.3624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3904741837"/>
                  </a:ext>
                </a:extLst>
              </a:tr>
              <a:tr h="1424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199.98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200.6376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199.3624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400" marR="4400" marT="4400" marB="0" anchor="ctr"/>
                </a:tc>
                <a:extLst>
                  <a:ext uri="{0D108BD9-81ED-4DB2-BD59-A6C34878D82A}">
                    <a16:rowId xmlns:a16="http://schemas.microsoft.com/office/drawing/2014/main" val="4010669901"/>
                  </a:ext>
                </a:extLst>
              </a:tr>
            </a:tbl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167455DE-4599-CC65-2F1B-44B7A28E96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5857907"/>
              </p:ext>
            </p:extLst>
          </p:nvPr>
        </p:nvGraphicFramePr>
        <p:xfrm>
          <a:off x="6096000" y="1050692"/>
          <a:ext cx="5334944" cy="2817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815C56C4-12B0-4721-8404-492540C922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6685136"/>
              </p:ext>
            </p:extLst>
          </p:nvPr>
        </p:nvGraphicFramePr>
        <p:xfrm>
          <a:off x="6096000" y="3939702"/>
          <a:ext cx="5334944" cy="2475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96F2AB05-B744-D960-DA77-00DC64880440}"/>
              </a:ext>
            </a:extLst>
          </p:cNvPr>
          <p:cNvSpPr>
            <a:spLocks noGrp="1"/>
          </p:cNvSpPr>
          <p:nvPr/>
        </p:nvSpPr>
        <p:spPr>
          <a:xfrm>
            <a:off x="457201" y="296334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Project 01. </a:t>
            </a:r>
            <a:r>
              <a:rPr lang="ko-KR" altLang="ko-KR" sz="2175" dirty="0">
                <a:solidFill>
                  <a:srgbClr val="FF4564"/>
                </a:solidFill>
                <a:latin typeface="Malgun Gothic"/>
              </a:rPr>
              <a:t>설비 센서 안정성</a:t>
            </a:r>
            <a:r>
              <a:rPr lang="en-US" altLang="ko-KR" sz="2175" dirty="0">
                <a:solidFill>
                  <a:srgbClr val="FF4564"/>
                </a:solidFill>
                <a:latin typeface="Malgun Gothic"/>
              </a:rPr>
              <a:t> </a:t>
            </a:r>
            <a:r>
              <a:rPr lang="ko-KR" altLang="en-US" sz="2175" dirty="0">
                <a:solidFill>
                  <a:srgbClr val="FF4564"/>
                </a:solidFill>
                <a:latin typeface="Malgun Gothic"/>
              </a:rPr>
              <a:t>확인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6CF1E-F7E0-E4DA-5732-285EBC05F292}"/>
              </a:ext>
            </a:extLst>
          </p:cNvPr>
          <p:cNvSpPr txBox="1"/>
          <p:nvPr/>
        </p:nvSpPr>
        <p:spPr>
          <a:xfrm>
            <a:off x="11391089" y="639107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02/14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353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277BF-0D58-5DFD-8580-22A9E5783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C3F776C-BA4D-D6F5-0CF1-81E11FBCDDB9}"/>
              </a:ext>
            </a:extLst>
          </p:cNvPr>
          <p:cNvSpPr>
            <a:spLocks noGrp="1"/>
          </p:cNvSpPr>
          <p:nvPr/>
        </p:nvSpPr>
        <p:spPr>
          <a:xfrm>
            <a:off x="645459" y="930109"/>
            <a:ext cx="8790365" cy="5111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7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2446" b="1" dirty="0">
                <a:solidFill>
                  <a:srgbClr val="172C3D"/>
                </a:solidFill>
                <a:latin typeface="Malgun Gothic"/>
              </a:rPr>
              <a:t>반도체 공정 조건에 따른 </a:t>
            </a:r>
            <a:r>
              <a:rPr lang="ko-KR" altLang="ko-KR" sz="2446" b="1" dirty="0" err="1">
                <a:solidFill>
                  <a:srgbClr val="172C3D"/>
                </a:solidFill>
                <a:latin typeface="Malgun Gothic"/>
              </a:rPr>
              <a:t>Wafer</a:t>
            </a:r>
            <a:r>
              <a:rPr lang="ko-KR" altLang="ko-KR" sz="2446" b="1" dirty="0">
                <a:solidFill>
                  <a:srgbClr val="172C3D"/>
                </a:solidFill>
                <a:latin typeface="Malgun Gothic"/>
              </a:rPr>
              <a:t> 두께 분석</a:t>
            </a:r>
            <a:endParaRPr sz="2446" b="1" dirty="0">
              <a:solidFill>
                <a:srgbClr val="172C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DA4C6F-9B2D-B8F7-E8A9-905ACCDE2A58}"/>
              </a:ext>
            </a:extLst>
          </p:cNvPr>
          <p:cNvSpPr>
            <a:spLocks noGrp="1"/>
          </p:cNvSpPr>
          <p:nvPr/>
        </p:nvSpPr>
        <p:spPr>
          <a:xfrm>
            <a:off x="644724" y="5836120"/>
            <a:ext cx="4092066" cy="7528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공정 </a:t>
            </a:r>
            <a:r>
              <a:rPr lang="ko-KR" altLang="ko-KR" sz="1273" dirty="0" err="1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Recipe</a:t>
            </a:r>
            <a: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조건</a:t>
            </a:r>
            <a:r>
              <a:rPr lang="en-US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좌</a:t>
            </a:r>
            <a:r>
              <a:rPr lang="en-US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 </a:t>
            </a:r>
            <a:r>
              <a:rPr lang="ko-KR" altLang="ko-KR" sz="1273" dirty="0" err="1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Wafer</a:t>
            </a:r>
            <a: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계측 데이터</a:t>
            </a:r>
            <a:r>
              <a:rPr lang="en-US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우</a:t>
            </a:r>
            <a:r>
              <a:rPr lang="en-US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연결해</a:t>
            </a:r>
            <a:b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</a:br>
            <a: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조건별 두께 수준과 </a:t>
            </a:r>
            <a:r>
              <a:rPr lang="ko-KR" altLang="ko-KR" sz="1273" dirty="0" err="1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Wafer</a:t>
            </a:r>
            <a: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내 산포를 비교</a:t>
            </a:r>
            <a:r>
              <a:rPr lang="ko-KR" altLang="en-US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함</a:t>
            </a:r>
            <a:endParaRPr sz="1273" dirty="0">
              <a:solidFill>
                <a:srgbClr val="536878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F03677-7B0D-C82D-CEEF-6396100DFB59}"/>
              </a:ext>
            </a:extLst>
          </p:cNvPr>
          <p:cNvSpPr>
            <a:spLocks noGrp="1"/>
          </p:cNvSpPr>
          <p:nvPr/>
        </p:nvSpPr>
        <p:spPr>
          <a:xfrm>
            <a:off x="6188086" y="5497096"/>
            <a:ext cx="4378875" cy="13660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1830"/>
              </a:lnSpc>
              <a:defRPr sz="1575" b="0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분석 목표</a:t>
            </a:r>
            <a:endParaRPr lang="en-US" altLang="ko-KR" sz="1273" dirty="0">
              <a:solidFill>
                <a:srgbClr val="536878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</a:pPr>
            <a: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Target </a:t>
            </a:r>
            <a:r>
              <a:rPr lang="ko-KR" altLang="ko-KR" sz="1273" dirty="0" err="1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Spec에</a:t>
            </a:r>
            <a: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가까운 공정 조건 선정</a:t>
            </a: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</a:pPr>
            <a:r>
              <a:rPr lang="ko-KR" altLang="ko-KR" sz="1273" dirty="0" err="1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Wafer</a:t>
            </a:r>
            <a: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내 취약 위치 확인</a:t>
            </a: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</a:pPr>
            <a: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후속 공정 관리가 필요한 지점 도출</a:t>
            </a:r>
          </a:p>
          <a:p>
            <a:pPr>
              <a:lnSpc>
                <a:spcPts val="1830"/>
              </a:lnSpc>
              <a:defRPr sz="1575" b="0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endParaRPr sz="1273" dirty="0">
              <a:solidFill>
                <a:srgbClr val="536878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E9B01F13-44BE-BE0A-E8BB-E52B18FB8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881988"/>
              </p:ext>
            </p:extLst>
          </p:nvPr>
        </p:nvGraphicFramePr>
        <p:xfrm>
          <a:off x="6052067" y="1441237"/>
          <a:ext cx="5495210" cy="3796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329">
                  <a:extLst>
                    <a:ext uri="{9D8B030D-6E8A-4147-A177-3AD203B41FA5}">
                      <a16:colId xmlns:a16="http://schemas.microsoft.com/office/drawing/2014/main" val="684843045"/>
                    </a:ext>
                  </a:extLst>
                </a:gridCol>
                <a:gridCol w="774617">
                  <a:extLst>
                    <a:ext uri="{9D8B030D-6E8A-4147-A177-3AD203B41FA5}">
                      <a16:colId xmlns:a16="http://schemas.microsoft.com/office/drawing/2014/main" val="1728641771"/>
                    </a:ext>
                  </a:extLst>
                </a:gridCol>
                <a:gridCol w="546033">
                  <a:extLst>
                    <a:ext uri="{9D8B030D-6E8A-4147-A177-3AD203B41FA5}">
                      <a16:colId xmlns:a16="http://schemas.microsoft.com/office/drawing/2014/main" val="158479413"/>
                    </a:ext>
                  </a:extLst>
                </a:gridCol>
                <a:gridCol w="546033">
                  <a:extLst>
                    <a:ext uri="{9D8B030D-6E8A-4147-A177-3AD203B41FA5}">
                      <a16:colId xmlns:a16="http://schemas.microsoft.com/office/drawing/2014/main" val="919144467"/>
                    </a:ext>
                  </a:extLst>
                </a:gridCol>
                <a:gridCol w="546033">
                  <a:extLst>
                    <a:ext uri="{9D8B030D-6E8A-4147-A177-3AD203B41FA5}">
                      <a16:colId xmlns:a16="http://schemas.microsoft.com/office/drawing/2014/main" val="4115483811"/>
                    </a:ext>
                  </a:extLst>
                </a:gridCol>
                <a:gridCol w="546033">
                  <a:extLst>
                    <a:ext uri="{9D8B030D-6E8A-4147-A177-3AD203B41FA5}">
                      <a16:colId xmlns:a16="http://schemas.microsoft.com/office/drawing/2014/main" val="2936098688"/>
                    </a:ext>
                  </a:extLst>
                </a:gridCol>
                <a:gridCol w="546033">
                  <a:extLst>
                    <a:ext uri="{9D8B030D-6E8A-4147-A177-3AD203B41FA5}">
                      <a16:colId xmlns:a16="http://schemas.microsoft.com/office/drawing/2014/main" val="3713829149"/>
                    </a:ext>
                  </a:extLst>
                </a:gridCol>
                <a:gridCol w="546033">
                  <a:extLst>
                    <a:ext uri="{9D8B030D-6E8A-4147-A177-3AD203B41FA5}">
                      <a16:colId xmlns:a16="http://schemas.microsoft.com/office/drawing/2014/main" val="628414134"/>
                    </a:ext>
                  </a:extLst>
                </a:gridCol>
                <a:gridCol w="546033">
                  <a:extLst>
                    <a:ext uri="{9D8B030D-6E8A-4147-A177-3AD203B41FA5}">
                      <a16:colId xmlns:a16="http://schemas.microsoft.com/office/drawing/2014/main" val="3578497826"/>
                    </a:ext>
                  </a:extLst>
                </a:gridCol>
                <a:gridCol w="546033">
                  <a:extLst>
                    <a:ext uri="{9D8B030D-6E8A-4147-A177-3AD203B41FA5}">
                      <a16:colId xmlns:a16="http://schemas.microsoft.com/office/drawing/2014/main" val="837648183"/>
                    </a:ext>
                  </a:extLst>
                </a:gridCol>
              </a:tblGrid>
              <a:tr h="1725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WF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ITEM_ID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7670850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3391.45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3195.33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3296.02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3448.35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3546.46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3565.36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3490.97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3337.61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27854742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3424.49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3221.9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3340.86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3479.54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3579.34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3596.17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3519.42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3374.93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4086427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3384.15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3209.35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3307.92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3431.02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3518.42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3539.35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3464.91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3331.92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9818650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3227.29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3064.28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3155.39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3279.56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3360.85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3378.85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3296.82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3176.03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50588235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3225.81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3066.4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3160.87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3279.41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3351.2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3370.56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3292.17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3164.36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51842869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3260.92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3097.13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3192.09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3305.44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3391.58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3404.27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3338.89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3215.69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749457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3312.24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3134.64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3230.97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3350.22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3437.93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3455.96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3388.97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3258.75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51747174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3332.38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3164.71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3250.62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3376.66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3458.37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3471.03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3411.15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3286.65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6055178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3356.6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3192.36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3276.3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3396.5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3484.17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3503.64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3431.79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3304.78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09914291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3382.94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3203.33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3307.84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3424.49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3504.51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3530.24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3463.47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3333.57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02653088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3212.01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3047.62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3146.28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3250.76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3342.15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3359.82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3292.3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3162.78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63569521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3160.89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2999.87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3082.21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3205.19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3287.85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3311.36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3239.87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3115.71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3349446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3177.33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3008.42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3097.05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3215.67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3304.03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3324.41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3255.26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3134.67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50298957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3084.28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2915.38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3008.45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3121.42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3205.92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3232.18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3163.34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3044.94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4242504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3054.85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2891.09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2981.37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3096.68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3174.76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3192.52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3134.01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3013.38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0318167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2284.681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2166.474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2218.103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2325.629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2357.486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2396.109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2368.619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2244.506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15956599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2677.754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2545.607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2584.404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2721.235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2796.61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2807.389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2736.598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2618.353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4621170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3023.447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2870.276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2948.339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3064.168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3150.008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3165.695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3150.927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2980.968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37226322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2971.859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2789.479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2891.554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3001.433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3092.199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3115.162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3063.39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2913.367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23893009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2783.444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2608.274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2699.488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2847.111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2942.004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2966.01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2879.135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2755.042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78889991"/>
                  </a:ext>
                </a:extLst>
              </a:tr>
              <a:tr h="17256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3173.471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3046.8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3135.397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3204.759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3279.958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3280.838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3247.979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3164.985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0718081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3A475112-E3A8-D9C8-8842-47459FD49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891025"/>
              </p:ext>
            </p:extLst>
          </p:nvPr>
        </p:nvGraphicFramePr>
        <p:xfrm>
          <a:off x="644724" y="1441239"/>
          <a:ext cx="5120531" cy="426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4123">
                  <a:extLst>
                    <a:ext uri="{9D8B030D-6E8A-4147-A177-3AD203B41FA5}">
                      <a16:colId xmlns:a16="http://schemas.microsoft.com/office/drawing/2014/main" val="1300105700"/>
                    </a:ext>
                  </a:extLst>
                </a:gridCol>
                <a:gridCol w="330302">
                  <a:extLst>
                    <a:ext uri="{9D8B030D-6E8A-4147-A177-3AD203B41FA5}">
                      <a16:colId xmlns:a16="http://schemas.microsoft.com/office/drawing/2014/main" val="3382325510"/>
                    </a:ext>
                  </a:extLst>
                </a:gridCol>
                <a:gridCol w="898626">
                  <a:extLst>
                    <a:ext uri="{9D8B030D-6E8A-4147-A177-3AD203B41FA5}">
                      <a16:colId xmlns:a16="http://schemas.microsoft.com/office/drawing/2014/main" val="456944226"/>
                    </a:ext>
                  </a:extLst>
                </a:gridCol>
                <a:gridCol w="484123">
                  <a:extLst>
                    <a:ext uri="{9D8B030D-6E8A-4147-A177-3AD203B41FA5}">
                      <a16:colId xmlns:a16="http://schemas.microsoft.com/office/drawing/2014/main" val="2186840713"/>
                    </a:ext>
                  </a:extLst>
                </a:gridCol>
                <a:gridCol w="391022">
                  <a:extLst>
                    <a:ext uri="{9D8B030D-6E8A-4147-A177-3AD203B41FA5}">
                      <a16:colId xmlns:a16="http://schemas.microsoft.com/office/drawing/2014/main" val="3192372480"/>
                    </a:ext>
                  </a:extLst>
                </a:gridCol>
                <a:gridCol w="247816">
                  <a:extLst>
                    <a:ext uri="{9D8B030D-6E8A-4147-A177-3AD203B41FA5}">
                      <a16:colId xmlns:a16="http://schemas.microsoft.com/office/drawing/2014/main" val="43193897"/>
                    </a:ext>
                  </a:extLst>
                </a:gridCol>
                <a:gridCol w="534229">
                  <a:extLst>
                    <a:ext uri="{9D8B030D-6E8A-4147-A177-3AD203B41FA5}">
                      <a16:colId xmlns:a16="http://schemas.microsoft.com/office/drawing/2014/main" val="3466226823"/>
                    </a:ext>
                  </a:extLst>
                </a:gridCol>
                <a:gridCol w="484123">
                  <a:extLst>
                    <a:ext uri="{9D8B030D-6E8A-4147-A177-3AD203B41FA5}">
                      <a16:colId xmlns:a16="http://schemas.microsoft.com/office/drawing/2014/main" val="2510180728"/>
                    </a:ext>
                  </a:extLst>
                </a:gridCol>
                <a:gridCol w="391022">
                  <a:extLst>
                    <a:ext uri="{9D8B030D-6E8A-4147-A177-3AD203B41FA5}">
                      <a16:colId xmlns:a16="http://schemas.microsoft.com/office/drawing/2014/main" val="3436777742"/>
                    </a:ext>
                  </a:extLst>
                </a:gridCol>
                <a:gridCol w="484123">
                  <a:extLst>
                    <a:ext uri="{9D8B030D-6E8A-4147-A177-3AD203B41FA5}">
                      <a16:colId xmlns:a16="http://schemas.microsoft.com/office/drawing/2014/main" val="4064497530"/>
                    </a:ext>
                  </a:extLst>
                </a:gridCol>
                <a:gridCol w="391022">
                  <a:extLst>
                    <a:ext uri="{9D8B030D-6E8A-4147-A177-3AD203B41FA5}">
                      <a16:colId xmlns:a16="http://schemas.microsoft.com/office/drawing/2014/main" val="2165442642"/>
                    </a:ext>
                  </a:extLst>
                </a:gridCol>
              </a:tblGrid>
              <a:tr h="151766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Run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Recipe name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Dep_recipe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668711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Gas(sccm)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Pressure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(mTorr)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Power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(watt)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Temp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Time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(sec)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02548511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Si2H6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N2O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NH3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N2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96341"/>
                  </a:ext>
                </a:extLst>
              </a:tr>
              <a:tr h="151766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BKM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FT0524_Pre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41514453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FT0524_Pre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69729770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93105519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9457864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3792055"/>
                  </a:ext>
                </a:extLst>
              </a:tr>
              <a:tr h="151766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가스 </a:t>
                      </a:r>
                      <a:br>
                        <a:rPr lang="ko-KR" sz="1000" u="none" strike="noStrike" dirty="0">
                          <a:effectLst/>
                        </a:rPr>
                      </a:br>
                      <a:r>
                        <a:rPr lang="ko-KR" sz="1000" u="none" strike="noStrike" dirty="0">
                          <a:effectLst/>
                        </a:rPr>
                        <a:t>유량</a:t>
                      </a:r>
                      <a:br>
                        <a:rPr lang="ko-KR" sz="1000" u="none" strike="noStrike" dirty="0">
                          <a:effectLst/>
                        </a:rPr>
                      </a:br>
                      <a:r>
                        <a:rPr lang="ko-KR" sz="1000" u="none" strike="noStrike" dirty="0">
                          <a:effectLst/>
                        </a:rPr>
                        <a:t>증가 </a:t>
                      </a:r>
                      <a:br>
                        <a:rPr lang="ko-KR" sz="1000" u="none" strike="noStrike" dirty="0">
                          <a:effectLst/>
                        </a:rPr>
                      </a:br>
                      <a:r>
                        <a:rPr lang="ko-KR" sz="1000" u="none" strike="noStrike" dirty="0" err="1">
                          <a:effectLst/>
                        </a:rPr>
                        <a:t>recipe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907245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12110836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64507983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88797258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3080587"/>
                  </a:ext>
                </a:extLst>
              </a:tr>
              <a:tr h="151766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가스 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유량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감소 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recipe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40833994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1484671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41655805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44625123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94124824"/>
                  </a:ext>
                </a:extLst>
              </a:tr>
              <a:tr h="151766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복합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SPLIT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6248080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8460949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14886244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165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69195728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155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63617909"/>
                  </a:ext>
                </a:extLst>
              </a:tr>
              <a:tr h="151766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복합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SPLIT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10658418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18967247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19228156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1617308"/>
                  </a:ext>
                </a:extLst>
              </a:tr>
              <a:tr h="151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-</a:t>
                      </a: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50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5695172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BB1D484-A8A8-CC8C-00E1-77C9AE6AB666}"/>
              </a:ext>
            </a:extLst>
          </p:cNvPr>
          <p:cNvSpPr>
            <a:spLocks noGrp="1"/>
          </p:cNvSpPr>
          <p:nvPr/>
        </p:nvSpPr>
        <p:spPr>
          <a:xfrm>
            <a:off x="457201" y="296334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Project 0</a:t>
            </a:r>
            <a:r>
              <a:rPr lang="en-US"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ko-KR" sz="2175" dirty="0">
                <a:solidFill>
                  <a:srgbClr val="FF4564"/>
                </a:solidFill>
                <a:latin typeface="Malgun Gothic"/>
              </a:rPr>
              <a:t>조건별 두께 분석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1945B-2111-F1A3-77E7-9DB9CB515039}"/>
              </a:ext>
            </a:extLst>
          </p:cNvPr>
          <p:cNvSpPr txBox="1"/>
          <p:nvPr/>
        </p:nvSpPr>
        <p:spPr>
          <a:xfrm>
            <a:off x="11391089" y="639107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03/14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815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4802D3A-7070-4498-924E-8129AB607210}"/>
              </a:ext>
            </a:extLst>
          </p:cNvPr>
          <p:cNvSpPr>
            <a:spLocks noGrp="1"/>
          </p:cNvSpPr>
          <p:nvPr/>
        </p:nvSpPr>
        <p:spPr>
          <a:xfrm>
            <a:off x="7977615" y="2001523"/>
            <a:ext cx="3697919" cy="4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공정 </a:t>
            </a:r>
            <a:r>
              <a:rPr lang="en-US" altLang="ko-KR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Input(</a:t>
            </a:r>
            <a:r>
              <a:rPr lang="ko-KR" altLang="en-US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좌</a:t>
            </a:r>
            <a:r>
              <a:rPr lang="en-US" altLang="ko-KR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en-US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 계측 </a:t>
            </a:r>
            <a:r>
              <a:rPr lang="en-US" altLang="ko-KR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Output(</a:t>
            </a:r>
            <a:r>
              <a:rPr lang="ko-KR" altLang="en-US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우</a:t>
            </a:r>
            <a:r>
              <a:rPr lang="en-US" altLang="ko-KR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ko-KR" altLang="en-US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정리</a:t>
            </a:r>
            <a:endParaRPr lang="en-US" altLang="ko-KR" sz="1591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공정 파라미터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Run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별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Recipe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조건을 정리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Gas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유량</a:t>
            </a: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Pressure</a:t>
            </a: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RF Power</a:t>
            </a: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Temperature</a:t>
            </a: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Process Time</a:t>
            </a:r>
          </a:p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계측 데이터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Wafer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별 측정값과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GOF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확인함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결측 측정값 확인</a:t>
            </a: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GOF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통한 </a:t>
            </a:r>
            <a:r>
              <a:rPr lang="ko-KR" altLang="en-US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계측값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신뢰성 점검</a:t>
            </a: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Wafer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별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49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 위치 데이터 정리</a:t>
            </a: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평균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최댓값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최솟값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범위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표준편차 계산</a:t>
            </a:r>
          </a:p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745556DA-55C6-0953-87B7-9E10AB8CB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621721"/>
              </p:ext>
            </p:extLst>
          </p:nvPr>
        </p:nvGraphicFramePr>
        <p:xfrm>
          <a:off x="567881" y="1494958"/>
          <a:ext cx="6829514" cy="47956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162">
                  <a:extLst>
                    <a:ext uri="{9D8B030D-6E8A-4147-A177-3AD203B41FA5}">
                      <a16:colId xmlns:a16="http://schemas.microsoft.com/office/drawing/2014/main" val="449243794"/>
                    </a:ext>
                  </a:extLst>
                </a:gridCol>
                <a:gridCol w="832724">
                  <a:extLst>
                    <a:ext uri="{9D8B030D-6E8A-4147-A177-3AD203B41FA5}">
                      <a16:colId xmlns:a16="http://schemas.microsoft.com/office/drawing/2014/main" val="3294620262"/>
                    </a:ext>
                  </a:extLst>
                </a:gridCol>
                <a:gridCol w="427593">
                  <a:extLst>
                    <a:ext uri="{9D8B030D-6E8A-4147-A177-3AD203B41FA5}">
                      <a16:colId xmlns:a16="http://schemas.microsoft.com/office/drawing/2014/main" val="3071570625"/>
                    </a:ext>
                  </a:extLst>
                </a:gridCol>
                <a:gridCol w="444196">
                  <a:extLst>
                    <a:ext uri="{9D8B030D-6E8A-4147-A177-3AD203B41FA5}">
                      <a16:colId xmlns:a16="http://schemas.microsoft.com/office/drawing/2014/main" val="1662680710"/>
                    </a:ext>
                  </a:extLst>
                </a:gridCol>
                <a:gridCol w="337598">
                  <a:extLst>
                    <a:ext uri="{9D8B030D-6E8A-4147-A177-3AD203B41FA5}">
                      <a16:colId xmlns:a16="http://schemas.microsoft.com/office/drawing/2014/main" val="113823494"/>
                    </a:ext>
                  </a:extLst>
                </a:gridCol>
                <a:gridCol w="281576">
                  <a:extLst>
                    <a:ext uri="{9D8B030D-6E8A-4147-A177-3AD203B41FA5}">
                      <a16:colId xmlns:a16="http://schemas.microsoft.com/office/drawing/2014/main" val="1884310590"/>
                    </a:ext>
                  </a:extLst>
                </a:gridCol>
                <a:gridCol w="660730">
                  <a:extLst>
                    <a:ext uri="{9D8B030D-6E8A-4147-A177-3AD203B41FA5}">
                      <a16:colId xmlns:a16="http://schemas.microsoft.com/office/drawing/2014/main" val="1754260016"/>
                    </a:ext>
                  </a:extLst>
                </a:gridCol>
                <a:gridCol w="689787">
                  <a:extLst>
                    <a:ext uri="{9D8B030D-6E8A-4147-A177-3AD203B41FA5}">
                      <a16:colId xmlns:a16="http://schemas.microsoft.com/office/drawing/2014/main" val="3677676483"/>
                    </a:ext>
                  </a:extLst>
                </a:gridCol>
                <a:gridCol w="689787">
                  <a:extLst>
                    <a:ext uri="{9D8B030D-6E8A-4147-A177-3AD203B41FA5}">
                      <a16:colId xmlns:a16="http://schemas.microsoft.com/office/drawing/2014/main" val="2212304531"/>
                    </a:ext>
                  </a:extLst>
                </a:gridCol>
                <a:gridCol w="689787">
                  <a:extLst>
                    <a:ext uri="{9D8B030D-6E8A-4147-A177-3AD203B41FA5}">
                      <a16:colId xmlns:a16="http://schemas.microsoft.com/office/drawing/2014/main" val="2472552899"/>
                    </a:ext>
                  </a:extLst>
                </a:gridCol>
                <a:gridCol w="689787">
                  <a:extLst>
                    <a:ext uri="{9D8B030D-6E8A-4147-A177-3AD203B41FA5}">
                      <a16:colId xmlns:a16="http://schemas.microsoft.com/office/drawing/2014/main" val="2882868948"/>
                    </a:ext>
                  </a:extLst>
                </a:gridCol>
                <a:gridCol w="689787">
                  <a:extLst>
                    <a:ext uri="{9D8B030D-6E8A-4147-A177-3AD203B41FA5}">
                      <a16:colId xmlns:a16="http://schemas.microsoft.com/office/drawing/2014/main" val="715753194"/>
                    </a:ext>
                  </a:extLst>
                </a:gridCol>
              </a:tblGrid>
              <a:tr h="166326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Recipe</a:t>
                      </a:r>
                      <a:r>
                        <a:rPr lang="ko-KR" sz="1000" u="none" strike="noStrike" dirty="0">
                          <a:effectLst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</a:rPr>
                        <a:t>name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Input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Output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8280674"/>
                  </a:ext>
                </a:extLst>
              </a:tr>
              <a:tr h="260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Gas</a:t>
                      </a:r>
                      <a:r>
                        <a:rPr lang="ko-KR" sz="1000" u="none" strike="noStrike" dirty="0">
                          <a:effectLst/>
                        </a:rPr>
                        <a:t>(</a:t>
                      </a:r>
                      <a:r>
                        <a:rPr lang="ko-KR" sz="1000" u="none" strike="noStrike" dirty="0" err="1">
                          <a:effectLst/>
                        </a:rPr>
                        <a:t>sccm</a:t>
                      </a:r>
                      <a:r>
                        <a:rPr lang="ko-KR" sz="1000" u="none" strike="noStrike" dirty="0">
                          <a:effectLst/>
                        </a:rPr>
                        <a:t>)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Power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(watt)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Temp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Time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(sec)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88063582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Si2H6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AVG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MAX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MIN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RANGE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STD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Unif.(%)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7789237"/>
                  </a:ext>
                </a:extLst>
              </a:tr>
              <a:tr h="166326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BKM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FT0524_Pre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3304.17143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3697.63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2736.35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961.28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293.644867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14.5464608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0590168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FT0524_Pre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3337.85143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3729.02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2784.08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944.94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289.046145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14.154914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14041391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3296.56571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3659.95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2836.33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823.62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252.34005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12.4920913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85141152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3149.41837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3496.77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2718.1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778.67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240.343067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12.3621239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69111612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3146.35837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3491.61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2706.81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784.8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240.838988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12.4715609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94885399"/>
                  </a:ext>
                </a:extLst>
              </a:tr>
              <a:tr h="166326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가스 </a:t>
                      </a:r>
                      <a:br>
                        <a:rPr lang="ko-KR" sz="1000" u="none" strike="noStrike" dirty="0">
                          <a:effectLst/>
                        </a:rPr>
                      </a:br>
                      <a:r>
                        <a:rPr lang="ko-KR" sz="1000" u="none" strike="noStrike" dirty="0">
                          <a:effectLst/>
                        </a:rPr>
                        <a:t>유량</a:t>
                      </a:r>
                      <a:br>
                        <a:rPr lang="ko-KR" sz="1000" u="none" strike="noStrike" dirty="0">
                          <a:effectLst/>
                        </a:rPr>
                      </a:br>
                      <a:r>
                        <a:rPr lang="ko-KR" sz="1000" u="none" strike="noStrike" dirty="0">
                          <a:effectLst/>
                        </a:rPr>
                        <a:t>증가 </a:t>
                      </a:r>
                      <a:br>
                        <a:rPr lang="ko-KR" sz="1000" u="none" strike="noStrike" dirty="0">
                          <a:effectLst/>
                        </a:rPr>
                      </a:br>
                      <a:r>
                        <a:rPr lang="ko-KR" sz="1000" u="none" strike="noStrike" dirty="0" err="1">
                          <a:effectLst/>
                        </a:rPr>
                        <a:t>recipe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400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3181.3798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3526.6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2728.98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797.62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244.16152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12.5357557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2587540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3223.6749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3573.55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2783.64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789.91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241.458039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12.2517007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77800330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400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3244.72735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3593.38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2797.33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796.05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245.011864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12.2668242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5859766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3268.01306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3621.83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2812.7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809.13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246.176464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12.3795405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7748889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3292.34204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3652.04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2817.75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834.29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249.109402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12.6701599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02213188"/>
                  </a:ext>
                </a:extLst>
              </a:tr>
              <a:tr h="166326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가스 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유량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감소 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recipe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3137.01776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3477.49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2700.86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776.63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240.002351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12.3784763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01328332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400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3090.19449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3428.59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2655.97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772.62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236.177549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12.5011549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25500129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3104.91469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3439.26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2677.4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761.86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235.027957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12.268614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92009295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3018.00306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3346.56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2600.88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745.68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231.25706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12.3538642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51414953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2988.37388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3309.98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2570.5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739.48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228.101255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12.3726152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06162029"/>
                  </a:ext>
                </a:extLst>
              </a:tr>
              <a:tr h="166326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복합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SPLIT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2238.61807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2488.50098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1904.24994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584.25104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171.252995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13.0493684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90493866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2613.78122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2924.67594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2237.92544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686.750497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204.8853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13.1371075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45344425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2981.46408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3334.70771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2580.65354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754.05417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229.73357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12.6457027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13375322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165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2894.57143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3252.931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2439.316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813.615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255.745184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14.0541531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6754245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155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2721.9898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3101.18075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2242.194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858.98675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266.95459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15.7786549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9468522"/>
                  </a:ext>
                </a:extLst>
              </a:tr>
              <a:tr h="166326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복합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SPLIT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FT0524_run19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195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3143.87755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3439.55416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2815.9194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623.634759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183.81059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9.91824187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01648392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3053.2551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3351.55416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2743.08848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608.465681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180.719635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9.96421296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49056026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2549.72687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2769.9852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2258.86713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511.118077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155.31008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10.0229966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69152032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2842.11188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3105.29512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2544.48175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560.813373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167.031233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9.86613824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66035878"/>
                  </a:ext>
                </a:extLst>
              </a:tr>
              <a:tr h="16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50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3154.61438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3470.2151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2833.02706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637.188038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187.482939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10.0993016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044879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02CD8BB-C289-A120-835E-C104726EB847}"/>
              </a:ext>
            </a:extLst>
          </p:cNvPr>
          <p:cNvSpPr>
            <a:spLocks noGrp="1"/>
          </p:cNvSpPr>
          <p:nvPr/>
        </p:nvSpPr>
        <p:spPr>
          <a:xfrm>
            <a:off x="567881" y="899287"/>
            <a:ext cx="8790365" cy="5111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7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46" b="1" dirty="0">
                <a:solidFill>
                  <a:srgbClr val="172C3D"/>
                </a:solidFill>
                <a:latin typeface="Malgun Gothic"/>
              </a:rPr>
              <a:t>데이터 </a:t>
            </a:r>
            <a:r>
              <a:rPr lang="ko-KR" altLang="en-US" sz="2446" b="1" dirty="0" err="1">
                <a:solidFill>
                  <a:srgbClr val="172C3D"/>
                </a:solidFill>
                <a:latin typeface="Malgun Gothic"/>
              </a:rPr>
              <a:t>전처리</a:t>
            </a:r>
            <a:r>
              <a:rPr lang="ko-KR" altLang="en-US" sz="2446" b="1" dirty="0">
                <a:solidFill>
                  <a:srgbClr val="172C3D"/>
                </a:solidFill>
                <a:latin typeface="Malgun Gothic"/>
              </a:rPr>
              <a:t> 및 연결</a:t>
            </a:r>
            <a:endParaRPr lang="ko-KR" altLang="en-US" sz="2446" b="1" dirty="0">
              <a:solidFill>
                <a:srgbClr val="172C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CB9D8F-0BA8-3144-DFFB-5084F1874265}"/>
              </a:ext>
            </a:extLst>
          </p:cNvPr>
          <p:cNvSpPr>
            <a:spLocks noGrp="1"/>
          </p:cNvSpPr>
          <p:nvPr/>
        </p:nvSpPr>
        <p:spPr>
          <a:xfrm>
            <a:off x="457201" y="296334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Project 0</a:t>
            </a:r>
            <a:r>
              <a:rPr lang="en-US"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ko-KR" sz="2175" dirty="0">
                <a:solidFill>
                  <a:srgbClr val="FF4564"/>
                </a:solidFill>
                <a:latin typeface="Malgun Gothic"/>
              </a:rPr>
              <a:t>조건별 두께 분석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4D56D2-0E74-EE44-8F39-21BEBC967C85}"/>
              </a:ext>
            </a:extLst>
          </p:cNvPr>
          <p:cNvSpPr txBox="1"/>
          <p:nvPr/>
        </p:nvSpPr>
        <p:spPr>
          <a:xfrm>
            <a:off x="11391089" y="639107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04/14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755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F0C4B-FC69-907B-874E-741681EFB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47B855B-BF70-9156-26D1-AD541FB3ABFF}"/>
              </a:ext>
            </a:extLst>
          </p:cNvPr>
          <p:cNvSpPr>
            <a:spLocks noGrp="1"/>
          </p:cNvSpPr>
          <p:nvPr/>
        </p:nvSpPr>
        <p:spPr>
          <a:xfrm>
            <a:off x="4809071" y="1558412"/>
            <a:ext cx="6925727" cy="22614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591" b="1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Target Spec</a:t>
            </a:r>
            <a:r>
              <a:rPr lang="ko-KR" altLang="en-US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 </a:t>
            </a:r>
            <a:r>
              <a:rPr lang="en-US" altLang="ko-KR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Wafer </a:t>
            </a:r>
            <a:r>
              <a:rPr lang="ko-KR" altLang="en-US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산포를 함께 비교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초기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두께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Spec 3,200 Å ± 400 Å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적용함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각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Run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대해 평균 두께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최댓값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·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최솟값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산포를 비교함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buNone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ko-KR" altLang="en-US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buNone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 </a:t>
            </a:r>
            <a:r>
              <a:rPr lang="en-US" altLang="ko-KR" sz="1273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Run 23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이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Target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에 가까운 평균값을 보였고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,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최댓값과 최솟값도 관리 범위에 있으므로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target spec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에 최적 조건으로 선정함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.</a:t>
            </a:r>
            <a:endParaRPr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6CEB173-BB30-0914-5679-209A54493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717164"/>
              </p:ext>
            </p:extLst>
          </p:nvPr>
        </p:nvGraphicFramePr>
        <p:xfrm>
          <a:off x="457201" y="1558412"/>
          <a:ext cx="3673009" cy="48171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6612">
                  <a:extLst>
                    <a:ext uri="{9D8B030D-6E8A-4147-A177-3AD203B41FA5}">
                      <a16:colId xmlns:a16="http://schemas.microsoft.com/office/drawing/2014/main" val="353185428"/>
                    </a:ext>
                  </a:extLst>
                </a:gridCol>
                <a:gridCol w="641530">
                  <a:extLst>
                    <a:ext uri="{9D8B030D-6E8A-4147-A177-3AD203B41FA5}">
                      <a16:colId xmlns:a16="http://schemas.microsoft.com/office/drawing/2014/main" val="2150261503"/>
                    </a:ext>
                  </a:extLst>
                </a:gridCol>
                <a:gridCol w="322233">
                  <a:extLst>
                    <a:ext uri="{9D8B030D-6E8A-4147-A177-3AD203B41FA5}">
                      <a16:colId xmlns:a16="http://schemas.microsoft.com/office/drawing/2014/main" val="3534984481"/>
                    </a:ext>
                  </a:extLst>
                </a:gridCol>
                <a:gridCol w="442275">
                  <a:extLst>
                    <a:ext uri="{9D8B030D-6E8A-4147-A177-3AD203B41FA5}">
                      <a16:colId xmlns:a16="http://schemas.microsoft.com/office/drawing/2014/main" val="1576614840"/>
                    </a:ext>
                  </a:extLst>
                </a:gridCol>
                <a:gridCol w="277299">
                  <a:extLst>
                    <a:ext uri="{9D8B030D-6E8A-4147-A177-3AD203B41FA5}">
                      <a16:colId xmlns:a16="http://schemas.microsoft.com/office/drawing/2014/main" val="1200642783"/>
                    </a:ext>
                  </a:extLst>
                </a:gridCol>
                <a:gridCol w="641530">
                  <a:extLst>
                    <a:ext uri="{9D8B030D-6E8A-4147-A177-3AD203B41FA5}">
                      <a16:colId xmlns:a16="http://schemas.microsoft.com/office/drawing/2014/main" val="1960815172"/>
                    </a:ext>
                  </a:extLst>
                </a:gridCol>
                <a:gridCol w="641530">
                  <a:extLst>
                    <a:ext uri="{9D8B030D-6E8A-4147-A177-3AD203B41FA5}">
                      <a16:colId xmlns:a16="http://schemas.microsoft.com/office/drawing/2014/main" val="1385222396"/>
                    </a:ext>
                  </a:extLst>
                </a:gridCol>
              </a:tblGrid>
              <a:tr h="1830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MAX-AVG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AVG-MIN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49276462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FT0524_Pre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3304.17143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393.458571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567.821429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1575824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FT0524_Pre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3337.85143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391.168571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553.771429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1875714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FT0524_run1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3296.56571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363.384286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460.235714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3097296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FT0524_run2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3149.41837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347.351633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431.318367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6537145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FT0524_run3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3146.35837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345.251633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439.548367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91719020"/>
                  </a:ext>
                </a:extLst>
              </a:tr>
              <a:tr h="2405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FT0524_run4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3181.3798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345.220204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452.399796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52289036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FT0524_run5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3223.6749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349.875102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440.034898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7330744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FT0524_run6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3244.72735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348.652653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447.397347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08799323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FT0524_run7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3268.01306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353.816939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455.313061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58529381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FT0524_run8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3292.34204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359.697959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474.592041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35783699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3137.01776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340.472245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436.157755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1361001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FT0524_run10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3090.19449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338.39551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434.22449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5827692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FT0524_run11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3104.91469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334.345306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427.514694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5364335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FT0524_run12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3018.00306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328.556939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417.123061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18394118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FT0524_run13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2988.37388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321.606122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417.873878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59723872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FT0524_run14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2238.61807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3200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249.882905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334.368135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9355312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FT0524_run15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2613.78122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310.894716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375.855782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54903522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FT0524_run16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2981.46408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353.24363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400.810539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17588550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FT0524_run17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2894.57143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358.359571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455.255429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22616238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FT0524_run18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2721.9898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379.190954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479.795796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05979286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FT0524_run19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3143.87755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295.676606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327.958153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23539922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FT0524_run20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3053.2551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298.299055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310.166626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58010603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FT0524_run21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2549.72687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220.258332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290.859745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9175518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FT0524_run22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2842.11188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263.183242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297.630132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05737652"/>
                  </a:ext>
                </a:extLst>
              </a:tr>
              <a:tr h="18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FT0524_run23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3154.61438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3200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2800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3600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315.600723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321.587315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17947906"/>
                  </a:ext>
                </a:extLst>
              </a:tr>
            </a:tbl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29919B34-E91D-4EEC-8E79-51B883C32D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6407882"/>
              </p:ext>
            </p:extLst>
          </p:nvPr>
        </p:nvGraphicFramePr>
        <p:xfrm>
          <a:off x="4736387" y="3558687"/>
          <a:ext cx="6998412" cy="2816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1CA65A5F-7F69-A8AF-ADD2-53A7DA68D68B}"/>
              </a:ext>
            </a:extLst>
          </p:cNvPr>
          <p:cNvSpPr/>
          <p:nvPr/>
        </p:nvSpPr>
        <p:spPr>
          <a:xfrm rot="18920542">
            <a:off x="10255144" y="5876173"/>
            <a:ext cx="887227" cy="2011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32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68C081-A172-920F-C310-0A9051C8059D}"/>
              </a:ext>
            </a:extLst>
          </p:cNvPr>
          <p:cNvSpPr>
            <a:spLocks noGrp="1"/>
          </p:cNvSpPr>
          <p:nvPr/>
        </p:nvSpPr>
        <p:spPr>
          <a:xfrm>
            <a:off x="457201" y="853842"/>
            <a:ext cx="4010160" cy="5111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7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46" b="1" dirty="0">
                <a:solidFill>
                  <a:srgbClr val="172C3D"/>
                </a:solidFill>
                <a:latin typeface="Malgun Gothic"/>
              </a:rPr>
              <a:t>조건별 분석 방법</a:t>
            </a:r>
            <a:endParaRPr lang="ko-KR" altLang="en-US" sz="2446" b="1" dirty="0">
              <a:solidFill>
                <a:srgbClr val="172C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56EBD8-C7CC-3215-8DB5-F4BED7766E47}"/>
              </a:ext>
            </a:extLst>
          </p:cNvPr>
          <p:cNvSpPr>
            <a:spLocks noGrp="1"/>
          </p:cNvSpPr>
          <p:nvPr/>
        </p:nvSpPr>
        <p:spPr>
          <a:xfrm>
            <a:off x="457201" y="296334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Project 0</a:t>
            </a:r>
            <a:r>
              <a:rPr lang="en-US"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ko-KR" sz="2175" dirty="0">
                <a:solidFill>
                  <a:srgbClr val="FF4564"/>
                </a:solidFill>
                <a:latin typeface="Malgun Gothic"/>
              </a:rPr>
              <a:t>조건별 두께 분석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E92A1C-CBD5-77F6-E18A-1F0F80DD65C9}"/>
              </a:ext>
            </a:extLst>
          </p:cNvPr>
          <p:cNvSpPr txBox="1"/>
          <p:nvPr/>
        </p:nvSpPr>
        <p:spPr>
          <a:xfrm>
            <a:off x="11391089" y="639107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05/14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267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1815F-2749-B84F-9C0E-09EC85C2E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56AB463-1A9F-AB90-6C1E-A9DCAD499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319002"/>
              </p:ext>
            </p:extLst>
          </p:nvPr>
        </p:nvGraphicFramePr>
        <p:xfrm>
          <a:off x="457201" y="1558412"/>
          <a:ext cx="3451007" cy="4657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4967">
                  <a:extLst>
                    <a:ext uri="{9D8B030D-6E8A-4147-A177-3AD203B41FA5}">
                      <a16:colId xmlns:a16="http://schemas.microsoft.com/office/drawing/2014/main" val="2164710048"/>
                    </a:ext>
                  </a:extLst>
                </a:gridCol>
                <a:gridCol w="694010">
                  <a:extLst>
                    <a:ext uri="{9D8B030D-6E8A-4147-A177-3AD203B41FA5}">
                      <a16:colId xmlns:a16="http://schemas.microsoft.com/office/drawing/2014/main" val="1636190008"/>
                    </a:ext>
                  </a:extLst>
                </a:gridCol>
                <a:gridCol w="694010">
                  <a:extLst>
                    <a:ext uri="{9D8B030D-6E8A-4147-A177-3AD203B41FA5}">
                      <a16:colId xmlns:a16="http://schemas.microsoft.com/office/drawing/2014/main" val="1768904317"/>
                    </a:ext>
                  </a:extLst>
                </a:gridCol>
                <a:gridCol w="694010">
                  <a:extLst>
                    <a:ext uri="{9D8B030D-6E8A-4147-A177-3AD203B41FA5}">
                      <a16:colId xmlns:a16="http://schemas.microsoft.com/office/drawing/2014/main" val="498958856"/>
                    </a:ext>
                  </a:extLst>
                </a:gridCol>
                <a:gridCol w="694010">
                  <a:extLst>
                    <a:ext uri="{9D8B030D-6E8A-4147-A177-3AD203B41FA5}">
                      <a16:colId xmlns:a16="http://schemas.microsoft.com/office/drawing/2014/main" val="147021068"/>
                    </a:ext>
                  </a:extLst>
                </a:gridCol>
              </a:tblGrid>
              <a:tr h="1554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오차 지표</a:t>
                      </a:r>
                      <a:endParaRPr lang="ko-KR" sz="1000" b="1" i="0" u="none" strike="noStrike">
                        <a:solidFill>
                          <a:srgbClr val="9C57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58241551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조건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34357982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87.27857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108.8414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8.151429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144.1786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59540899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86.63857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115.9514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3.008571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141.6886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62960734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87.58429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87.21571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11.35429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134.4543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89599366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77.87163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85.13837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5.971633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130.1416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68505456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79.45163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79.95837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14.51163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133.0516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43205086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79.5402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84.2498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10.7102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124.0602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2512832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88.5651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89.0349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7.295102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126.5451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09715087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87.65265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80.01735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5.892653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131.9327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3958508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88.58694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75.65306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8.286939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128.4869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7735536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90.59796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89.01204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15.49796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132.148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67689453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74.99224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89.39776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9.262245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113.7422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34815839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70.69551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90.32449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7.98449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114.9955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51502554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72.41531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96.49469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7.864694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110.7553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08258499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66.27694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102.6231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9.553061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103.4169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12223728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66.47612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97.28388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7.003878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108.3061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42216764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46.06305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72.1438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20.51499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87.01054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04253101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63.97266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68.17449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29.3777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107.4535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15334737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37676353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41.98265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111.1877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33.12479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82.7039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81244605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77.28757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105.0924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3.017929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106.8611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00336324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61.4537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113.7163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22.50205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125.1215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87373300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29.59389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97.07788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8.480871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60.88163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40332652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4.783661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94.45543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13.64158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102.5041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00056184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22.54439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81.62871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24.70006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55.61848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38965814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13.15586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102.0003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3.73029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77.0538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59891806"/>
                  </a:ext>
                </a:extLst>
              </a:tr>
              <a:tr h="15543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55.82883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86.26104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42.03232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72.28064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22119162"/>
                  </a:ext>
                </a:extLst>
              </a:tr>
              <a:tr h="2424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위치별 오차 지표 평균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64.8516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92.11738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13.33885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110.2157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4038487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11C69DE-6DCC-F57D-FBFD-A646683C2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320753"/>
              </p:ext>
            </p:extLst>
          </p:nvPr>
        </p:nvGraphicFramePr>
        <p:xfrm>
          <a:off x="4467361" y="1534594"/>
          <a:ext cx="2270437" cy="46808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6337">
                  <a:extLst>
                    <a:ext uri="{9D8B030D-6E8A-4147-A177-3AD203B41FA5}">
                      <a16:colId xmlns:a16="http://schemas.microsoft.com/office/drawing/2014/main" val="2653175407"/>
                    </a:ext>
                  </a:extLst>
                </a:gridCol>
                <a:gridCol w="977050">
                  <a:extLst>
                    <a:ext uri="{9D8B030D-6E8A-4147-A177-3AD203B41FA5}">
                      <a16:colId xmlns:a16="http://schemas.microsoft.com/office/drawing/2014/main" val="728322385"/>
                    </a:ext>
                  </a:extLst>
                </a:gridCol>
                <a:gridCol w="977050">
                  <a:extLst>
                    <a:ext uri="{9D8B030D-6E8A-4147-A177-3AD203B41FA5}">
                      <a16:colId xmlns:a16="http://schemas.microsoft.com/office/drawing/2014/main" val="780708756"/>
                    </a:ext>
                  </a:extLst>
                </a:gridCol>
              </a:tblGrid>
              <a:tr h="161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좌표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14607648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x(mm)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y(mm)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56861446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82630702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51174341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35.35533906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35.35533906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00843177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5243175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35.35533906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-35.35533906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77713735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39260502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-35.35533906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-35.35533906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05346993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-50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05428661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-35.35533906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35.35533906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5524606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2554835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38.26834324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92.38795325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6630515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70.71067812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70.71067812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3818969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92.38795325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38.26834324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49041725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07917420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92.38795325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-38.26834324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92350669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70.71067812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-70.71067812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1932320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38.26834324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-92.38795325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3801775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-100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76500691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-38.26834324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-92.38795325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8531016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-70.71067812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-70.71067812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5709363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-92.38795325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-38.26834324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8729029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-100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497213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-92.38795325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38.26834324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70672013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-70.71067812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70.71067812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64522322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-38.26834324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92.38795325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3058617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145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83523584"/>
                  </a:ext>
                </a:extLst>
              </a:tr>
              <a:tr h="1614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37.52876154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140.0592448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0730398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6D4AB9DB-E861-5688-D1DB-033EBB5F55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543529" y="1534594"/>
            <a:ext cx="3352712" cy="3426588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B940A6-ACE4-F7B9-4C2D-DD671D8B9009}"/>
              </a:ext>
            </a:extLst>
          </p:cNvPr>
          <p:cNvSpPr>
            <a:spLocks noGrp="1"/>
          </p:cNvSpPr>
          <p:nvPr/>
        </p:nvSpPr>
        <p:spPr>
          <a:xfrm>
            <a:off x="7296950" y="5375592"/>
            <a:ext cx="4195147" cy="148240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수행 계획</a:t>
            </a:r>
            <a:endParaRPr lang="en-US" altLang="ko-KR" sz="1591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위치별 오차 지표 데이터들을 </a:t>
            </a:r>
            <a:r>
              <a:rPr lang="ko-KR" altLang="en-US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전처리하여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1273" dirty="0" err="1"/>
              <a:t>Wafer별</a:t>
            </a:r>
            <a:r>
              <a:rPr lang="ko-KR" altLang="ko-KR" sz="1273" dirty="0"/>
              <a:t> 전체 평균 두께를 기준으로 각 위치</a:t>
            </a:r>
            <a:r>
              <a:rPr lang="ko-KR" altLang="en-US" sz="1273" dirty="0"/>
              <a:t>별</a:t>
            </a:r>
            <a:r>
              <a:rPr lang="ko-KR" altLang="ko-KR" sz="1273" dirty="0"/>
              <a:t> 편차를 계산</a:t>
            </a:r>
            <a:r>
              <a:rPr lang="ko-KR" altLang="en-US" sz="1273" dirty="0"/>
              <a:t>하고자 함</a:t>
            </a:r>
            <a:r>
              <a:rPr lang="en-US" altLang="ko-KR" sz="1273" dirty="0"/>
              <a:t>.</a:t>
            </a:r>
            <a:endParaRPr lang="ko-KR" altLang="ko-KR" sz="1273" dirty="0"/>
          </a:p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CF7FCB-3F74-ECC9-118D-7A444958FDAE}"/>
              </a:ext>
            </a:extLst>
          </p:cNvPr>
          <p:cNvSpPr>
            <a:spLocks noGrp="1"/>
          </p:cNvSpPr>
          <p:nvPr/>
        </p:nvSpPr>
        <p:spPr>
          <a:xfrm>
            <a:off x="457201" y="853842"/>
            <a:ext cx="4010160" cy="5111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7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446" b="1" dirty="0">
                <a:solidFill>
                  <a:srgbClr val="172C3D"/>
                </a:solidFill>
                <a:latin typeface="Malgun Gothic"/>
              </a:rPr>
              <a:t>Wafer</a:t>
            </a:r>
            <a:r>
              <a:rPr lang="ko-KR" altLang="en-US" sz="2446" b="1" dirty="0">
                <a:solidFill>
                  <a:srgbClr val="172C3D"/>
                </a:solidFill>
                <a:latin typeface="Malgun Gothic"/>
              </a:rPr>
              <a:t> 취약 위치 분석</a:t>
            </a:r>
            <a:endParaRPr lang="ko-KR" altLang="en-US" sz="2446" b="1" dirty="0">
              <a:solidFill>
                <a:srgbClr val="172C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759C3F-6A45-7966-6926-0A5DA45E81BE}"/>
              </a:ext>
            </a:extLst>
          </p:cNvPr>
          <p:cNvSpPr>
            <a:spLocks noGrp="1"/>
          </p:cNvSpPr>
          <p:nvPr/>
        </p:nvSpPr>
        <p:spPr>
          <a:xfrm>
            <a:off x="457201" y="296334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Project 0</a:t>
            </a:r>
            <a:r>
              <a:rPr lang="en-US"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ko-KR" sz="2175" dirty="0">
                <a:solidFill>
                  <a:srgbClr val="FF4564"/>
                </a:solidFill>
                <a:latin typeface="Malgun Gothic"/>
              </a:rPr>
              <a:t>위치별 취약성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3AD89C-B86B-236B-B89A-4EF36744E09E}"/>
              </a:ext>
            </a:extLst>
          </p:cNvPr>
          <p:cNvSpPr txBox="1"/>
          <p:nvPr/>
        </p:nvSpPr>
        <p:spPr>
          <a:xfrm>
            <a:off x="11391089" y="639107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06/14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78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FA3D3-EE9A-940C-365B-0A3A96A3E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9DE39A9-26C0-87DE-3F7D-4A96399C3721}"/>
              </a:ext>
            </a:extLst>
          </p:cNvPr>
          <p:cNvSpPr>
            <a:spLocks noGrp="1"/>
          </p:cNvSpPr>
          <p:nvPr/>
        </p:nvSpPr>
        <p:spPr>
          <a:xfrm>
            <a:off x="457201" y="1530349"/>
            <a:ext cx="5501810" cy="22614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91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위치별 평균 대비 오차 비교</a:t>
            </a:r>
            <a:endParaRPr lang="en-US" altLang="ko-KR" sz="1591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ts val="183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591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72811" indent="-272811">
              <a:lnSpc>
                <a:spcPts val="1830"/>
              </a:lnSpc>
              <a:buFont typeface="+mj-lt"/>
              <a:buAutoNum type="arabicPeriod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각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Wafer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전체 평균값 계산 </a:t>
            </a:r>
          </a:p>
          <a:p>
            <a:pPr marL="272811" indent="-272811">
              <a:lnSpc>
                <a:spcPts val="1830"/>
              </a:lnSpc>
              <a:buFont typeface="+mj-lt"/>
              <a:buAutoNum type="arabicPeriod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각 측정 위치의 값에서 해당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Wafer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평균값을 차감 </a:t>
            </a:r>
          </a:p>
          <a:p>
            <a:pPr marL="272811" indent="-272811">
              <a:lnSpc>
                <a:spcPts val="1830"/>
              </a:lnSpc>
              <a:buFont typeface="+mj-lt"/>
              <a:buAutoNum type="arabicPeriod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위치별 </a:t>
            </a:r>
            <a:r>
              <a:rPr lang="ko-KR" altLang="en-US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오차값을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여러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Wafer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대해 평균 </a:t>
            </a:r>
          </a:p>
          <a:p>
            <a:pPr marL="272811" indent="-272811">
              <a:lnSpc>
                <a:spcPts val="1830"/>
              </a:lnSpc>
              <a:buFont typeface="+mj-lt"/>
              <a:buAutoNum type="arabicPeriod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위치별 평균 오차 지표를 비교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72811" indent="-272811">
              <a:lnSpc>
                <a:spcPts val="1830"/>
              </a:lnSpc>
              <a:buFont typeface="+mj-lt"/>
              <a:buAutoNum type="arabicPeriod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ko-KR" altLang="en-US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à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분석 대상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wafer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에서 평균 대비 편차가 가장 큰 위치로 확인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  <a:sym typeface="Wingdings" panose="05000000000000000000" pitchFamily="2" charset="2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à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후속 공정에서 우선 확인할 위치로 선정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9E628238-9999-AD91-2657-92A24017C9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1605303"/>
              </p:ext>
            </p:extLst>
          </p:nvPr>
        </p:nvGraphicFramePr>
        <p:xfrm>
          <a:off x="457201" y="3862037"/>
          <a:ext cx="11218332" cy="269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2DF27094-A413-B27A-6760-0D06E1C41910}"/>
              </a:ext>
            </a:extLst>
          </p:cNvPr>
          <p:cNvGrpSpPr/>
          <p:nvPr/>
        </p:nvGrpSpPr>
        <p:grpSpPr>
          <a:xfrm>
            <a:off x="7166706" y="708349"/>
            <a:ext cx="3789636" cy="3083431"/>
            <a:chOff x="6625767" y="852684"/>
            <a:chExt cx="3789636" cy="3083431"/>
          </a:xfrm>
        </p:grpSpPr>
        <p:pic>
          <p:nvPicPr>
            <p:cNvPr id="12" name="그림 23">
              <a:extLst>
                <a:ext uri="{FF2B5EF4-FFF2-40B4-BE49-F238E27FC236}">
                  <a16:creationId xmlns:a16="http://schemas.microsoft.com/office/drawing/2014/main" id="{8BADCED9-9817-D42B-095B-8EDB10389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/>
          </p:blipFill>
          <p:spPr>
            <a:xfrm>
              <a:off x="6625767" y="852684"/>
              <a:ext cx="3789636" cy="3083431"/>
            </a:xfrm>
            <a:prstGeom prst="rect">
              <a:avLst/>
            </a:prstGeom>
          </p:spPr>
        </p:pic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E18F844-B597-DFA8-A64D-2DF980B4C58D}"/>
                </a:ext>
              </a:extLst>
            </p:cNvPr>
            <p:cNvSpPr/>
            <p:nvPr/>
          </p:nvSpPr>
          <p:spPr>
            <a:xfrm>
              <a:off x="7961907" y="1060045"/>
              <a:ext cx="229127" cy="22912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32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1667AAE-8BE7-EC89-84CC-F37A5D868022}"/>
                </a:ext>
              </a:extLst>
            </p:cNvPr>
            <p:cNvSpPr txBox="1"/>
            <p:nvPr/>
          </p:nvSpPr>
          <p:spPr>
            <a:xfrm>
              <a:off x="7911867" y="1242129"/>
              <a:ext cx="439710" cy="288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73" b="1" dirty="0">
                  <a:solidFill>
                    <a:srgbClr val="000000"/>
                  </a:solidFill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  <a:sym typeface="Wingdings" panose="05000000000000000000" pitchFamily="2" charset="2"/>
                </a:rPr>
                <a:t>49</a:t>
              </a:r>
              <a:endParaRPr lang="ko-KR" altLang="en-US" sz="1432" dirty="0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D493EE-DC56-D597-3B92-BC28E0E515CA}"/>
              </a:ext>
            </a:extLst>
          </p:cNvPr>
          <p:cNvSpPr>
            <a:spLocks noGrp="1"/>
          </p:cNvSpPr>
          <p:nvPr/>
        </p:nvSpPr>
        <p:spPr>
          <a:xfrm>
            <a:off x="457201" y="853842"/>
            <a:ext cx="4010160" cy="5111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7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446" b="1" dirty="0">
                <a:solidFill>
                  <a:srgbClr val="172C3D"/>
                </a:solidFill>
                <a:latin typeface="Malgun Gothic"/>
              </a:rPr>
              <a:t>Wafer</a:t>
            </a:r>
            <a:r>
              <a:rPr lang="ko-KR" altLang="en-US" sz="2446" b="1" dirty="0">
                <a:solidFill>
                  <a:srgbClr val="172C3D"/>
                </a:solidFill>
                <a:latin typeface="Malgun Gothic"/>
              </a:rPr>
              <a:t> 취약 위치 분석</a:t>
            </a:r>
            <a:endParaRPr lang="ko-KR" altLang="en-US" sz="2446" b="1" dirty="0">
              <a:solidFill>
                <a:srgbClr val="172C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9DDB0E-E771-49BB-FB0F-970027E20320}"/>
              </a:ext>
            </a:extLst>
          </p:cNvPr>
          <p:cNvSpPr>
            <a:spLocks noGrp="1"/>
          </p:cNvSpPr>
          <p:nvPr/>
        </p:nvSpPr>
        <p:spPr>
          <a:xfrm>
            <a:off x="457201" y="296334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Project 0</a:t>
            </a:r>
            <a:r>
              <a:rPr lang="en-US"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ko-KR" sz="2175" dirty="0">
                <a:solidFill>
                  <a:srgbClr val="FF4564"/>
                </a:solidFill>
                <a:latin typeface="Malgun Gothic"/>
              </a:rPr>
              <a:t>위치별 취약성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F9B17E-F790-2A65-1F47-8F04D366302D}"/>
              </a:ext>
            </a:extLst>
          </p:cNvPr>
          <p:cNvSpPr txBox="1"/>
          <p:nvPr/>
        </p:nvSpPr>
        <p:spPr>
          <a:xfrm>
            <a:off x="11391089" y="639107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07/14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970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6E16F-1E52-A858-4BE7-AC8D17523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C99CC28-FE23-B861-B3EC-DF48BE22C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138073"/>
              </p:ext>
            </p:extLst>
          </p:nvPr>
        </p:nvGraphicFramePr>
        <p:xfrm>
          <a:off x="6979617" y="1683906"/>
          <a:ext cx="4332230" cy="47876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374">
                  <a:extLst>
                    <a:ext uri="{9D8B030D-6E8A-4147-A177-3AD203B41FA5}">
                      <a16:colId xmlns:a16="http://schemas.microsoft.com/office/drawing/2014/main" val="939210191"/>
                    </a:ext>
                  </a:extLst>
                </a:gridCol>
                <a:gridCol w="1124524">
                  <a:extLst>
                    <a:ext uri="{9D8B030D-6E8A-4147-A177-3AD203B41FA5}">
                      <a16:colId xmlns:a16="http://schemas.microsoft.com/office/drawing/2014/main" val="3049397185"/>
                    </a:ext>
                  </a:extLst>
                </a:gridCol>
                <a:gridCol w="477924">
                  <a:extLst>
                    <a:ext uri="{9D8B030D-6E8A-4147-A177-3AD203B41FA5}">
                      <a16:colId xmlns:a16="http://schemas.microsoft.com/office/drawing/2014/main" val="2230925091"/>
                    </a:ext>
                  </a:extLst>
                </a:gridCol>
                <a:gridCol w="716885">
                  <a:extLst>
                    <a:ext uri="{9D8B030D-6E8A-4147-A177-3AD203B41FA5}">
                      <a16:colId xmlns:a16="http://schemas.microsoft.com/office/drawing/2014/main" val="982726814"/>
                    </a:ext>
                  </a:extLst>
                </a:gridCol>
                <a:gridCol w="489168">
                  <a:extLst>
                    <a:ext uri="{9D8B030D-6E8A-4147-A177-3AD203B41FA5}">
                      <a16:colId xmlns:a16="http://schemas.microsoft.com/office/drawing/2014/main" val="1354833299"/>
                    </a:ext>
                  </a:extLst>
                </a:gridCol>
                <a:gridCol w="520092">
                  <a:extLst>
                    <a:ext uri="{9D8B030D-6E8A-4147-A177-3AD203B41FA5}">
                      <a16:colId xmlns:a16="http://schemas.microsoft.com/office/drawing/2014/main" val="1235052062"/>
                    </a:ext>
                  </a:extLst>
                </a:gridCol>
                <a:gridCol w="413263">
                  <a:extLst>
                    <a:ext uri="{9D8B030D-6E8A-4147-A177-3AD203B41FA5}">
                      <a16:colId xmlns:a16="http://schemas.microsoft.com/office/drawing/2014/main" val="2086665111"/>
                    </a:ext>
                  </a:extLst>
                </a:gridCol>
              </a:tblGrid>
              <a:tr h="170987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Recipe name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WF#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Dep_recipe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707969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Gas(sccm)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Power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(watt)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Temp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Time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(sec)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55291807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Si2H6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509663"/>
                  </a:ext>
                </a:extLst>
              </a:tr>
              <a:tr h="170987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BKM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FT0524_Pre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88076923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FT0524_Pre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82882511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73228525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07799020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53058574"/>
                  </a:ext>
                </a:extLst>
              </a:tr>
              <a:tr h="170987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가스 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유량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증가 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recipe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3952949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66414862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91868785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45747823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FT0524_run8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75462142"/>
                  </a:ext>
                </a:extLst>
              </a:tr>
              <a:tr h="170987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가스 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유량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감소 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recipe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9993050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31355447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55234409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73162278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17333768"/>
                  </a:ext>
                </a:extLst>
              </a:tr>
              <a:tr h="170987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복합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SPLIT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48613134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7440656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4962435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165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8838143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155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90451855"/>
                  </a:ext>
                </a:extLst>
              </a:tr>
              <a:tr h="170987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복합</a:t>
                      </a:r>
                      <a:br>
                        <a:rPr lang="ko-KR" sz="1000" u="none" strike="noStrike" dirty="0">
                          <a:effectLst/>
                        </a:rPr>
                      </a:br>
                      <a:r>
                        <a:rPr lang="ko-KR" sz="1000" u="none" strike="noStrike" dirty="0">
                          <a:effectLst/>
                        </a:rPr>
                        <a:t>SPLIT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5755873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45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40679401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0745113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91913061"/>
                  </a:ext>
                </a:extLst>
              </a:tr>
              <a:tr h="1709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50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72724064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B4BD9DDB-67FE-AB5A-6E9E-E2004FFB6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962532"/>
              </p:ext>
            </p:extLst>
          </p:nvPr>
        </p:nvGraphicFramePr>
        <p:xfrm>
          <a:off x="454090" y="3144828"/>
          <a:ext cx="6109819" cy="3326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363">
                  <a:extLst>
                    <a:ext uri="{9D8B030D-6E8A-4147-A177-3AD203B41FA5}">
                      <a16:colId xmlns:a16="http://schemas.microsoft.com/office/drawing/2014/main" val="3181781271"/>
                    </a:ext>
                  </a:extLst>
                </a:gridCol>
                <a:gridCol w="288928">
                  <a:extLst>
                    <a:ext uri="{9D8B030D-6E8A-4147-A177-3AD203B41FA5}">
                      <a16:colId xmlns:a16="http://schemas.microsoft.com/office/drawing/2014/main" val="3696619542"/>
                    </a:ext>
                  </a:extLst>
                </a:gridCol>
                <a:gridCol w="691677">
                  <a:extLst>
                    <a:ext uri="{9D8B030D-6E8A-4147-A177-3AD203B41FA5}">
                      <a16:colId xmlns:a16="http://schemas.microsoft.com/office/drawing/2014/main" val="2997926761"/>
                    </a:ext>
                  </a:extLst>
                </a:gridCol>
                <a:gridCol w="538539">
                  <a:extLst>
                    <a:ext uri="{9D8B030D-6E8A-4147-A177-3AD203B41FA5}">
                      <a16:colId xmlns:a16="http://schemas.microsoft.com/office/drawing/2014/main" val="949415975"/>
                    </a:ext>
                  </a:extLst>
                </a:gridCol>
                <a:gridCol w="538539">
                  <a:extLst>
                    <a:ext uri="{9D8B030D-6E8A-4147-A177-3AD203B41FA5}">
                      <a16:colId xmlns:a16="http://schemas.microsoft.com/office/drawing/2014/main" val="3298589181"/>
                    </a:ext>
                  </a:extLst>
                </a:gridCol>
                <a:gridCol w="538539">
                  <a:extLst>
                    <a:ext uri="{9D8B030D-6E8A-4147-A177-3AD203B41FA5}">
                      <a16:colId xmlns:a16="http://schemas.microsoft.com/office/drawing/2014/main" val="3796528679"/>
                    </a:ext>
                  </a:extLst>
                </a:gridCol>
                <a:gridCol w="538539">
                  <a:extLst>
                    <a:ext uri="{9D8B030D-6E8A-4147-A177-3AD203B41FA5}">
                      <a16:colId xmlns:a16="http://schemas.microsoft.com/office/drawing/2014/main" val="1976063180"/>
                    </a:ext>
                  </a:extLst>
                </a:gridCol>
                <a:gridCol w="538539">
                  <a:extLst>
                    <a:ext uri="{9D8B030D-6E8A-4147-A177-3AD203B41FA5}">
                      <a16:colId xmlns:a16="http://schemas.microsoft.com/office/drawing/2014/main" val="2690111853"/>
                    </a:ext>
                  </a:extLst>
                </a:gridCol>
                <a:gridCol w="538539">
                  <a:extLst>
                    <a:ext uri="{9D8B030D-6E8A-4147-A177-3AD203B41FA5}">
                      <a16:colId xmlns:a16="http://schemas.microsoft.com/office/drawing/2014/main" val="2269411588"/>
                    </a:ext>
                  </a:extLst>
                </a:gridCol>
                <a:gridCol w="538539">
                  <a:extLst>
                    <a:ext uri="{9D8B030D-6E8A-4147-A177-3AD203B41FA5}">
                      <a16:colId xmlns:a16="http://schemas.microsoft.com/office/drawing/2014/main" val="2653946135"/>
                    </a:ext>
                  </a:extLst>
                </a:gridCol>
                <a:gridCol w="538539">
                  <a:extLst>
                    <a:ext uri="{9D8B030D-6E8A-4147-A177-3AD203B41FA5}">
                      <a16:colId xmlns:a16="http://schemas.microsoft.com/office/drawing/2014/main" val="2522361080"/>
                    </a:ext>
                  </a:extLst>
                </a:gridCol>
                <a:gridCol w="538539">
                  <a:extLst>
                    <a:ext uri="{9D8B030D-6E8A-4147-A177-3AD203B41FA5}">
                      <a16:colId xmlns:a16="http://schemas.microsoft.com/office/drawing/2014/main" val="269946223"/>
                    </a:ext>
                  </a:extLst>
                </a:gridCol>
              </a:tblGrid>
              <a:tr h="2217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조건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WF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ITEM_ID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41978523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3391.45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3195.33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3296.02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3448.35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3546.46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3565.36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3490.97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3337.61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3197.12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22430535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GOF_1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0.976022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0.975948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0.976814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0.977169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0.974182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0.975369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0.97243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0.973512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0.975108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83614803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3424.49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3221.9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3340.86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3479.54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3579.34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3596.17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3519.42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3374.93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3247.47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24772035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GOF_1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0.976349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0.970018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0.97387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0.977743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0.977542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0.972121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0.973997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0.974944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0.971358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64773329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3384.15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3209.35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3307.92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3431.02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3518.42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3539.35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3464.91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3331.92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3230.71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48561705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GOF_1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0.974902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0.973841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0.973547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0.978542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0.976711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0.976117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0.975044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0.974324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0.973541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46863472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3227.29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3064.28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3155.39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3279.56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3360.85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3378.85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3296.82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3176.03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3066.48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27357173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GOF_1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0.978289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0.97054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0.971133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0.972162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0.974393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0.973202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0.977557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0.979907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0.974395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76550360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3225.81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3066.4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3160.87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3279.41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3351.2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3370.56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3292.17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3164.36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3060.75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97369389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GOF_1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0.97585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0.976864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0.977782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0.971196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0.979253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0.974004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0.97518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0.978566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0.970813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4331687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3260.92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3097.13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3192.09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3305.44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3391.58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3404.27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3338.89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3215.69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3097.72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31407081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GOF_1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0.970666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0.972115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0.976411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0.971842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0.977196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0.977875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0.976864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0.974508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0.979106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58769008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THK1_1_TOP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3312.24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3134.64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3230.97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3350.22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3437.93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3455.96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3388.97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3258.75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3153.29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62966938"/>
                  </a:ext>
                </a:extLst>
              </a:tr>
              <a:tr h="2217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GOF_1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0.970492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0.974047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0.975016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0.974315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0.977485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0.978224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0.979903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0.977246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0.970695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10720832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C1306E16-53FE-E148-A565-199857C0F749}"/>
              </a:ext>
            </a:extLst>
          </p:cNvPr>
          <p:cNvSpPr>
            <a:spLocks noGrp="1"/>
          </p:cNvSpPr>
          <p:nvPr/>
        </p:nvSpPr>
        <p:spPr>
          <a:xfrm>
            <a:off x="457200" y="1683906"/>
            <a:ext cx="6109818" cy="3572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1830"/>
              </a:lnSpc>
              <a:defRPr sz="202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1611" b="1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변경된 목표 두께</a:t>
            </a:r>
            <a:endParaRPr sz="1611" b="1" dirty="0">
              <a:solidFill>
                <a:srgbClr val="172C3D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CB61315-1565-BA48-A088-7D828233BA97}"/>
              </a:ext>
            </a:extLst>
          </p:cNvPr>
          <p:cNvSpPr>
            <a:spLocks noGrp="1"/>
          </p:cNvSpPr>
          <p:nvPr/>
        </p:nvSpPr>
        <p:spPr>
          <a:xfrm>
            <a:off x="457200" y="2040067"/>
            <a:ext cx="6109818" cy="7858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1830"/>
              </a:lnSpc>
              <a:defRPr sz="1650" b="0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Target: 3,500 Å ± 300 Å</a:t>
            </a:r>
          </a:p>
          <a:p>
            <a:pPr>
              <a:lnSpc>
                <a:spcPts val="1830"/>
              </a:lnSpc>
              <a:defRPr sz="1650" b="0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</a:t>
            </a:r>
            <a:r>
              <a:rPr lang="en-US" altLang="ko-KR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이를 </a:t>
            </a:r>
            <a:r>
              <a:rPr lang="ko-KR" altLang="ko-KR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Uniformity</a:t>
            </a:r>
            <a:r>
              <a:rPr lang="en-US" altLang="ko-KR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en-US" altLang="ko-KR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300 ÷ 3,500 = 8.57%</a:t>
            </a:r>
            <a:r>
              <a:rPr lang="ko-KR" altLang="en-US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를 설계 </a:t>
            </a:r>
            <a:r>
              <a:rPr lang="ko-KR" altLang="en-US" sz="1313" dirty="0" err="1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참고으로</a:t>
            </a:r>
            <a:r>
              <a:rPr lang="ko-KR" altLang="ko-KR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사용하여 </a:t>
            </a:r>
            <a:r>
              <a:rPr lang="ko-KR" altLang="ko-KR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균일도 개선</a:t>
            </a:r>
            <a:r>
              <a:rPr lang="ko-KR" altLang="en-US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</a:t>
            </a:r>
            <a:r>
              <a:rPr lang="ko-KR" altLang="ko-KR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평균 두께</a:t>
            </a:r>
            <a:r>
              <a:rPr lang="en-US" altLang="ko-KR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보정을 함께 계획함</a:t>
            </a:r>
            <a:r>
              <a:rPr lang="en-US" altLang="ko-KR" sz="1313" dirty="0">
                <a:solidFill>
                  <a:srgbClr val="172C3D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313" dirty="0">
              <a:solidFill>
                <a:srgbClr val="172C3D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5B81A8-ABCD-93B7-452D-E7D319A8E3B3}"/>
              </a:ext>
            </a:extLst>
          </p:cNvPr>
          <p:cNvSpPr>
            <a:spLocks noGrp="1"/>
          </p:cNvSpPr>
          <p:nvPr/>
        </p:nvSpPr>
        <p:spPr>
          <a:xfrm>
            <a:off x="457200" y="853842"/>
            <a:ext cx="7803221" cy="5111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7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46" b="1" dirty="0">
                <a:solidFill>
                  <a:srgbClr val="172C3D"/>
                </a:solidFill>
                <a:latin typeface="Malgun Gothic"/>
              </a:rPr>
              <a:t>변경된 </a:t>
            </a:r>
            <a:r>
              <a:rPr lang="en-US" altLang="ko-KR" sz="2446" b="1" dirty="0">
                <a:solidFill>
                  <a:srgbClr val="172C3D"/>
                </a:solidFill>
                <a:latin typeface="Malgun Gothic"/>
              </a:rPr>
              <a:t>Target Spec</a:t>
            </a:r>
            <a:r>
              <a:rPr lang="ko-KR" altLang="en-US" sz="2446" b="1" dirty="0">
                <a:solidFill>
                  <a:srgbClr val="172C3D"/>
                </a:solidFill>
                <a:latin typeface="Malgun Gothic"/>
              </a:rPr>
              <a:t>을 위한 후속 평가 설계 계획</a:t>
            </a:r>
            <a:endParaRPr lang="ko-KR" altLang="en-US" sz="2446" b="1" dirty="0">
              <a:solidFill>
                <a:srgbClr val="172C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CEE6D2-1E98-325F-B503-3E303FF80B6D}"/>
              </a:ext>
            </a:extLst>
          </p:cNvPr>
          <p:cNvSpPr>
            <a:spLocks noGrp="1"/>
          </p:cNvSpPr>
          <p:nvPr/>
        </p:nvSpPr>
        <p:spPr>
          <a:xfrm>
            <a:off x="457201" y="296334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Project 0</a:t>
            </a:r>
            <a:r>
              <a:rPr lang="en-US"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ko-KR" sz="2175" dirty="0">
                <a:solidFill>
                  <a:srgbClr val="FF4564"/>
                </a:solidFill>
                <a:latin typeface="Malgun Gothic"/>
              </a:rPr>
              <a:t>후속 평가 설계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86D876-1A0C-28B6-EBA8-AE7C048F4913}"/>
              </a:ext>
            </a:extLst>
          </p:cNvPr>
          <p:cNvSpPr txBox="1"/>
          <p:nvPr/>
        </p:nvSpPr>
        <p:spPr>
          <a:xfrm>
            <a:off x="11391089" y="639107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08/14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070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459D8-10C6-EB97-CA89-D97EE5CE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A1E620-215D-6CB4-1A51-78E61F10C60C}"/>
              </a:ext>
            </a:extLst>
          </p:cNvPr>
          <p:cNvSpPr>
            <a:spLocks noGrp="1"/>
          </p:cNvSpPr>
          <p:nvPr/>
        </p:nvSpPr>
        <p:spPr>
          <a:xfrm>
            <a:off x="8260421" y="1974953"/>
            <a:ext cx="3154168" cy="362818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1: </a:t>
            </a:r>
            <a:r>
              <a:rPr lang="en-US" altLang="ko-KR" sz="1372" dirty="0" err="1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Power·Temperature</a:t>
            </a:r>
            <a:r>
              <a:rPr lang="en-US" altLang="ko-KR" sz="1372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372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영향 분석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Power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아닌 온도가 균일도 에 영향을 준다는 것을 확인함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다만 </a:t>
            </a:r>
            <a:r>
              <a:rPr lang="ko-KR" altLang="en-US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증착률도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변화하므로 평균 두께를 보정이 필요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2: </a:t>
            </a:r>
            <a:r>
              <a:rPr lang="ko-KR" altLang="ko-KR" sz="1372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Process Time</a:t>
            </a:r>
            <a:r>
              <a:rPr lang="ko-KR" altLang="en-US" sz="1372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영향 확인</a:t>
            </a:r>
            <a:endParaRPr lang="en-US" altLang="ko-KR" sz="1372" dirty="0">
              <a:solidFill>
                <a:srgbClr val="536878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각 온도 조건에서 </a:t>
            </a:r>
            <a:r>
              <a:rPr lang="ko-KR" altLang="ko-KR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Process Time</a:t>
            </a:r>
            <a:r>
              <a:rPr lang="ko-KR" altLang="en-US" sz="1273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따른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증착률과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Uniformity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변화는 상대적으로 작았음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온도로 균일도를 개선하고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시간으로 평균 두께를 보정하고자 함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.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FEA34E-DFB8-57BA-D6C3-3300ACECC3A4}"/>
              </a:ext>
            </a:extLst>
          </p:cNvPr>
          <p:cNvSpPr txBox="1"/>
          <p:nvPr/>
        </p:nvSpPr>
        <p:spPr>
          <a:xfrm>
            <a:off x="457200" y="1732162"/>
            <a:ext cx="49081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 </a:t>
            </a:r>
            <a:r>
              <a:rPr lang="en-US" altLang="ko-KR" sz="11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1. </a:t>
            </a:r>
            <a:r>
              <a:rPr lang="ko-KR" altLang="ko-KR" sz="1100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Power와 Temperature</a:t>
            </a:r>
            <a:r>
              <a:rPr lang="ko-KR" altLang="en-US" sz="1100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의한 영향 비교표</a:t>
            </a:r>
            <a:endParaRPr lang="en-US" altLang="ko-KR" sz="11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03106C-9285-73A2-FFAF-F7EAC9174A8D}"/>
              </a:ext>
            </a:extLst>
          </p:cNvPr>
          <p:cNvSpPr txBox="1"/>
          <p:nvPr/>
        </p:nvSpPr>
        <p:spPr>
          <a:xfrm>
            <a:off x="457200" y="3738138"/>
            <a:ext cx="49081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 </a:t>
            </a:r>
            <a:r>
              <a:rPr lang="en-US" altLang="ko-KR" sz="11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2. </a:t>
            </a:r>
            <a:r>
              <a:rPr lang="ko-KR" altLang="ko-KR" sz="1100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Process Time</a:t>
            </a:r>
            <a:r>
              <a:rPr lang="ko-KR" altLang="en-US" sz="1100" dirty="0">
                <a:solidFill>
                  <a:srgbClr val="536878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의한 영향 비교표</a:t>
            </a:r>
            <a:endParaRPr lang="en-US" altLang="ko-KR" sz="11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C68F71B-00E6-F74A-AF40-B29A308DE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74953"/>
            <a:ext cx="7252040" cy="127802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8AC5DF4-EDC2-9DBA-0C22-A3278E7A6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3999748"/>
            <a:ext cx="7304597" cy="172500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36C6C56-536B-C77B-36FA-EC9EC70453FB}"/>
              </a:ext>
            </a:extLst>
          </p:cNvPr>
          <p:cNvSpPr>
            <a:spLocks noGrp="1"/>
          </p:cNvSpPr>
          <p:nvPr/>
        </p:nvSpPr>
        <p:spPr>
          <a:xfrm>
            <a:off x="457200" y="853842"/>
            <a:ext cx="7803221" cy="5111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7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46" b="1" dirty="0">
                <a:solidFill>
                  <a:srgbClr val="172C3D"/>
                </a:solidFill>
                <a:latin typeface="Malgun Gothic"/>
              </a:rPr>
              <a:t>공정 변수별 영향 비교</a:t>
            </a:r>
            <a:endParaRPr lang="ko-KR" altLang="en-US" sz="2446" b="1" dirty="0">
              <a:solidFill>
                <a:srgbClr val="172C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47DC264-F45D-6DFB-A312-B5795B69641D}"/>
              </a:ext>
            </a:extLst>
          </p:cNvPr>
          <p:cNvSpPr>
            <a:spLocks noGrp="1"/>
          </p:cNvSpPr>
          <p:nvPr/>
        </p:nvSpPr>
        <p:spPr>
          <a:xfrm>
            <a:off x="457201" y="296334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Project 0</a:t>
            </a:r>
            <a:r>
              <a:rPr lang="en-US"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ko-KR" sz="2175" dirty="0">
                <a:solidFill>
                  <a:srgbClr val="FF4564"/>
                </a:solidFill>
                <a:latin typeface="Malgun Gothic"/>
              </a:rPr>
              <a:t>후속 평가 설계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6036C6-B44D-D10C-59A8-0E2D73E0B19D}"/>
              </a:ext>
            </a:extLst>
          </p:cNvPr>
          <p:cNvSpPr txBox="1"/>
          <p:nvPr/>
        </p:nvSpPr>
        <p:spPr>
          <a:xfrm>
            <a:off x="11391089" y="639107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09/14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835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2D8F1-C825-805A-2886-A37E68BF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9EE38B6-4998-C783-62A5-73E6B57F9C83}"/>
              </a:ext>
            </a:extLst>
          </p:cNvPr>
          <p:cNvSpPr>
            <a:spLocks noGrp="1"/>
          </p:cNvSpPr>
          <p:nvPr/>
        </p:nvSpPr>
        <p:spPr>
          <a:xfrm>
            <a:off x="8488863" y="2301276"/>
            <a:ext cx="3186671" cy="252937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균일도와 목표 두께를 고려한 기준 조건 선정</a:t>
            </a: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Uniformity ≤10% 를 1차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선별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기준으로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설정함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선별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조건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중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평균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두께가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가장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높은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Run19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선택함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평균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3,143.9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Å·Uniformity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9.92%를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기준으로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계산함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lnSpc>
                <a:spcPts val="1830"/>
              </a:lnSpc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온도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감소와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시간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증가를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통한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보정안을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검토함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C46A167-87E0-6DA1-5328-1E0AFDD21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412897"/>
              </p:ext>
            </p:extLst>
          </p:nvPr>
        </p:nvGraphicFramePr>
        <p:xfrm>
          <a:off x="457199" y="1345645"/>
          <a:ext cx="7464175" cy="50726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976">
                  <a:extLst>
                    <a:ext uri="{9D8B030D-6E8A-4147-A177-3AD203B41FA5}">
                      <a16:colId xmlns:a16="http://schemas.microsoft.com/office/drawing/2014/main" val="449243794"/>
                    </a:ext>
                  </a:extLst>
                </a:gridCol>
                <a:gridCol w="910109">
                  <a:extLst>
                    <a:ext uri="{9D8B030D-6E8A-4147-A177-3AD203B41FA5}">
                      <a16:colId xmlns:a16="http://schemas.microsoft.com/office/drawing/2014/main" val="3294620262"/>
                    </a:ext>
                  </a:extLst>
                </a:gridCol>
                <a:gridCol w="467330">
                  <a:extLst>
                    <a:ext uri="{9D8B030D-6E8A-4147-A177-3AD203B41FA5}">
                      <a16:colId xmlns:a16="http://schemas.microsoft.com/office/drawing/2014/main" val="3071570625"/>
                    </a:ext>
                  </a:extLst>
                </a:gridCol>
                <a:gridCol w="485474">
                  <a:extLst>
                    <a:ext uri="{9D8B030D-6E8A-4147-A177-3AD203B41FA5}">
                      <a16:colId xmlns:a16="http://schemas.microsoft.com/office/drawing/2014/main" val="1662680710"/>
                    </a:ext>
                  </a:extLst>
                </a:gridCol>
                <a:gridCol w="368972">
                  <a:extLst>
                    <a:ext uri="{9D8B030D-6E8A-4147-A177-3AD203B41FA5}">
                      <a16:colId xmlns:a16="http://schemas.microsoft.com/office/drawing/2014/main" val="113823494"/>
                    </a:ext>
                  </a:extLst>
                </a:gridCol>
                <a:gridCol w="275986">
                  <a:extLst>
                    <a:ext uri="{9D8B030D-6E8A-4147-A177-3AD203B41FA5}">
                      <a16:colId xmlns:a16="http://schemas.microsoft.com/office/drawing/2014/main" val="1884310590"/>
                    </a:ext>
                  </a:extLst>
                </a:gridCol>
                <a:gridCol w="753888">
                  <a:extLst>
                    <a:ext uri="{9D8B030D-6E8A-4147-A177-3AD203B41FA5}">
                      <a16:colId xmlns:a16="http://schemas.microsoft.com/office/drawing/2014/main" val="1754260016"/>
                    </a:ext>
                  </a:extLst>
                </a:gridCol>
                <a:gridCol w="753888">
                  <a:extLst>
                    <a:ext uri="{9D8B030D-6E8A-4147-A177-3AD203B41FA5}">
                      <a16:colId xmlns:a16="http://schemas.microsoft.com/office/drawing/2014/main" val="3677676483"/>
                    </a:ext>
                  </a:extLst>
                </a:gridCol>
                <a:gridCol w="753888">
                  <a:extLst>
                    <a:ext uri="{9D8B030D-6E8A-4147-A177-3AD203B41FA5}">
                      <a16:colId xmlns:a16="http://schemas.microsoft.com/office/drawing/2014/main" val="2212304531"/>
                    </a:ext>
                  </a:extLst>
                </a:gridCol>
                <a:gridCol w="753888">
                  <a:extLst>
                    <a:ext uri="{9D8B030D-6E8A-4147-A177-3AD203B41FA5}">
                      <a16:colId xmlns:a16="http://schemas.microsoft.com/office/drawing/2014/main" val="2472552899"/>
                    </a:ext>
                  </a:extLst>
                </a:gridCol>
                <a:gridCol w="753888">
                  <a:extLst>
                    <a:ext uri="{9D8B030D-6E8A-4147-A177-3AD203B41FA5}">
                      <a16:colId xmlns:a16="http://schemas.microsoft.com/office/drawing/2014/main" val="2882868948"/>
                    </a:ext>
                  </a:extLst>
                </a:gridCol>
                <a:gridCol w="753888">
                  <a:extLst>
                    <a:ext uri="{9D8B030D-6E8A-4147-A177-3AD203B41FA5}">
                      <a16:colId xmlns:a16="http://schemas.microsoft.com/office/drawing/2014/main" val="715753194"/>
                    </a:ext>
                  </a:extLst>
                </a:gridCol>
              </a:tblGrid>
              <a:tr h="176587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Recipe</a:t>
                      </a:r>
                      <a:r>
                        <a:rPr lang="ko-KR" sz="1000" u="none" strike="noStrike" dirty="0">
                          <a:effectLst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</a:rPr>
                        <a:t>name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Input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Output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8280674"/>
                  </a:ext>
                </a:extLst>
              </a:tr>
              <a:tr h="277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Gas</a:t>
                      </a:r>
                      <a:r>
                        <a:rPr lang="ko-KR" sz="1000" u="none" strike="noStrike" dirty="0">
                          <a:effectLst/>
                        </a:rPr>
                        <a:t>(</a:t>
                      </a:r>
                      <a:r>
                        <a:rPr lang="ko-KR" sz="1000" u="none" strike="noStrike" dirty="0" err="1">
                          <a:effectLst/>
                        </a:rPr>
                        <a:t>sccm</a:t>
                      </a:r>
                      <a:r>
                        <a:rPr lang="ko-KR" sz="1000" u="none" strike="noStrike" dirty="0">
                          <a:effectLst/>
                        </a:rPr>
                        <a:t>)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Power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(watt)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Temp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Time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(sec)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88063582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Si2H6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AVG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MAX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MIN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RANGE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STD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Unif.(%)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7789237"/>
                  </a:ext>
                </a:extLst>
              </a:tr>
              <a:tr h="176587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BKM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FT0524_Pre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3304.17143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3697.63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2736.35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961.28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293.644867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14.5464608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0590168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FT0524_Pre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3337.85143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3729.02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2784.08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944.94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289.046145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14.154914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14041391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FT0524_run1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3296.56571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3659.95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2836.33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823.62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252.34005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12.4920913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85141152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3149.41837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3496.77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2718.1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778.67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240.343067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12.3621239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69111612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3146.35837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3491.61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2706.81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784.8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240.838988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12.4715609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94885399"/>
                  </a:ext>
                </a:extLst>
              </a:tr>
              <a:tr h="176587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가스 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유량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증가 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recipe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400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3181.3798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3526.6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2728.98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797.62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244.16152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12.5357557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2587540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3223.6749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3573.55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2783.64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789.91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241.458039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12.2517007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77800330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400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3244.72735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3593.38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2797.33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796.05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245.011864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12.2668242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5859766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3268.01306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3621.83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2812.7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809.13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246.176464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12.3795405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7748889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3292.34204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3652.04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2817.75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834.29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249.109402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12.6701599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02213188"/>
                  </a:ext>
                </a:extLst>
              </a:tr>
              <a:tr h="176587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가스 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유량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감소 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recipe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3137.01776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3477.49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2700.86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776.63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240.002351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12.3784763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01328332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400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3090.19449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3428.59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2655.97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772.62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236.177549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12.5011549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25500129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3104.91469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3439.26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2677.4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761.86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235.027957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12.268614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92009295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3018.00306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3346.56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2600.88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745.68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231.25706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12.3538642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51414953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2988.37388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3309.98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2570.5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739.48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228.101255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12.3726152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06162029"/>
                  </a:ext>
                </a:extLst>
              </a:tr>
              <a:tr h="176587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복합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SPLIT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2238.61807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2488.50098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1904.24994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584.25104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171.252995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13.0493684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90493866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2613.78122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2924.67594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2237.92544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686.750497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204.8853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13.1371075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45344425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40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2981.46408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3334.70771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2580.65354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754.05417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229.73357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12.6457027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13375322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165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2894.57143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3252.931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2439.316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813.615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255.745184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14.0541531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6754245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FT0524_run18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155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2721.9898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3101.18075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2242.194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858.98675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266.95459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15.7786549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9468522"/>
                  </a:ext>
                </a:extLst>
              </a:tr>
              <a:tr h="176587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복합</a:t>
                      </a:r>
                      <a:br>
                        <a:rPr lang="ko-KR" sz="1000" u="none" strike="noStrike">
                          <a:effectLst/>
                        </a:rPr>
                      </a:br>
                      <a:r>
                        <a:rPr lang="ko-KR" sz="1000" u="none" strike="noStrike">
                          <a:effectLst/>
                        </a:rPr>
                        <a:t>SPLIT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FT0524_run19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195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45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3143.87755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3439.55416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2815.9194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623.634759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183.81059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9.91824187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648392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FT0524_run20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45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3053.2551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3351.55416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2743.08848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608.465681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180.719635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9.96421296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056026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FT0524_run21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175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2549.72687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2769.9852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2258.86713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511.118077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155.31008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10.0229966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69152032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FT0524_run22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175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300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45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2842.11188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3105.29512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2544.48175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560.813373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167.031233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9.86613824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rgbClr val="F1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035878"/>
                  </a:ext>
                </a:extLst>
              </a:tr>
              <a:tr h="17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FT0524_run23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175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300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50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3154.61438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3470.2151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2833.02706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637.188038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187.482939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10.0993016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0448791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6CCFF221-5964-52C1-7718-AF711C69FC2E}"/>
              </a:ext>
            </a:extLst>
          </p:cNvPr>
          <p:cNvSpPr>
            <a:spLocks noGrp="1"/>
          </p:cNvSpPr>
          <p:nvPr/>
        </p:nvSpPr>
        <p:spPr>
          <a:xfrm>
            <a:off x="457200" y="853842"/>
            <a:ext cx="7803221" cy="5111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7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46" b="1" dirty="0">
                <a:solidFill>
                  <a:srgbClr val="172C3D"/>
                </a:solidFill>
                <a:latin typeface="Malgun Gothic"/>
              </a:rPr>
              <a:t>기준 조건 및 예상 온도 계산</a:t>
            </a:r>
            <a:endParaRPr lang="ko-KR" altLang="en-US" sz="2446" b="1" dirty="0">
              <a:solidFill>
                <a:srgbClr val="172C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39261B-D0D9-9DAD-2D2D-714E631456BD}"/>
              </a:ext>
            </a:extLst>
          </p:cNvPr>
          <p:cNvSpPr>
            <a:spLocks noGrp="1"/>
          </p:cNvSpPr>
          <p:nvPr/>
        </p:nvSpPr>
        <p:spPr>
          <a:xfrm>
            <a:off x="457201" y="296334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Project 0</a:t>
            </a:r>
            <a:r>
              <a:rPr lang="en-US"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ko-KR" sz="2175" dirty="0">
                <a:solidFill>
                  <a:srgbClr val="FF4564"/>
                </a:solidFill>
                <a:latin typeface="Malgun Gothic"/>
              </a:rPr>
              <a:t>후속 평가 설계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96C27D-C717-8D76-CEEF-E8B4D0F4C71D}"/>
              </a:ext>
            </a:extLst>
          </p:cNvPr>
          <p:cNvSpPr txBox="1"/>
          <p:nvPr/>
        </p:nvSpPr>
        <p:spPr>
          <a:xfrm>
            <a:off x="11391089" y="639107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10/14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50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18AC5-B37F-D134-EFEC-44391A5D6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6B7E4C2-24FB-199D-A153-8B1F5AE249E4}"/>
              </a:ext>
            </a:extLst>
          </p:cNvPr>
          <p:cNvSpPr>
            <a:spLocks noGrp="1"/>
          </p:cNvSpPr>
          <p:nvPr/>
        </p:nvSpPr>
        <p:spPr>
          <a:xfrm>
            <a:off x="457200" y="4781110"/>
            <a:ext cx="4260121" cy="130855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온도 </a:t>
            </a:r>
            <a:r>
              <a:rPr lang="ko-KR" altLang="en-US" sz="1273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보정량</a:t>
            </a:r>
            <a:r>
              <a:rPr lang="ko-KR" altLang="en-US" sz="1273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계산</a:t>
            </a: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평균 두께가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Spec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하한인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3,200 Å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보다 낮아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두께 증가와 균일도 개선을 함께 검토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기존 변화율이 선형적으로 이어진다고 가정해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234.7℃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평가 후보로 설정함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657073B-2814-C86B-8FDC-6CD9AEF9A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601701"/>
              </p:ext>
            </p:extLst>
          </p:nvPr>
        </p:nvGraphicFramePr>
        <p:xfrm>
          <a:off x="457200" y="2633795"/>
          <a:ext cx="5503737" cy="17411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5236">
                  <a:extLst>
                    <a:ext uri="{9D8B030D-6E8A-4147-A177-3AD203B41FA5}">
                      <a16:colId xmlns:a16="http://schemas.microsoft.com/office/drawing/2014/main" val="1731888314"/>
                    </a:ext>
                  </a:extLst>
                </a:gridCol>
                <a:gridCol w="2448501">
                  <a:extLst>
                    <a:ext uri="{9D8B030D-6E8A-4147-A177-3AD203B41FA5}">
                      <a16:colId xmlns:a16="http://schemas.microsoft.com/office/drawing/2014/main" val="2926822161"/>
                    </a:ext>
                  </a:extLst>
                </a:gridCol>
              </a:tblGrid>
              <a:tr h="290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계산 항목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값 및 근거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993423279"/>
                  </a:ext>
                </a:extLst>
              </a:tr>
              <a:tr h="290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Uniformity 설계 </a:t>
                      </a:r>
                      <a:r>
                        <a:rPr lang="ko-KR" sz="1000" dirty="0" err="1"/>
                        <a:t>참고값</a:t>
                      </a:r>
                      <a:endParaRPr lang="ko-KR" sz="1000" dirty="0"/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300 ÷ 3,500 × 100 = 8.57%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830643425"/>
                  </a:ext>
                </a:extLst>
              </a:tr>
              <a:tr h="290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필요한 Uniformity 상대 감소율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약 13.58%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671836396"/>
                  </a:ext>
                </a:extLst>
              </a:tr>
              <a:tr h="290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온도 100℃ 감소 시 기존 상대 감소율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약 20.80%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437662456"/>
                  </a:ext>
                </a:extLst>
              </a:tr>
              <a:tr h="290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필요한 온도 감소량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13.58 ÷ 20.80 × 100 ≈ 65.3℃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3081920701"/>
                  </a:ext>
                </a:extLst>
              </a:tr>
              <a:tr h="290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예상 온도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300 − 65.3 = 234.7℃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88785970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6D2BBC-96DA-33F1-4A4D-519EDD5A8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833178"/>
              </p:ext>
            </p:extLst>
          </p:nvPr>
        </p:nvGraphicFramePr>
        <p:xfrm>
          <a:off x="457200" y="1763576"/>
          <a:ext cx="5503737" cy="602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1526">
                  <a:extLst>
                    <a:ext uri="{9D8B030D-6E8A-4147-A177-3AD203B41FA5}">
                      <a16:colId xmlns:a16="http://schemas.microsoft.com/office/drawing/2014/main" val="2529756755"/>
                    </a:ext>
                  </a:extLst>
                </a:gridCol>
                <a:gridCol w="454721">
                  <a:extLst>
                    <a:ext uri="{9D8B030D-6E8A-4147-A177-3AD203B41FA5}">
                      <a16:colId xmlns:a16="http://schemas.microsoft.com/office/drawing/2014/main" val="3312318992"/>
                    </a:ext>
                  </a:extLst>
                </a:gridCol>
                <a:gridCol w="633927">
                  <a:extLst>
                    <a:ext uri="{9D8B030D-6E8A-4147-A177-3AD203B41FA5}">
                      <a16:colId xmlns:a16="http://schemas.microsoft.com/office/drawing/2014/main" val="4020331518"/>
                    </a:ext>
                  </a:extLst>
                </a:gridCol>
                <a:gridCol w="633927">
                  <a:extLst>
                    <a:ext uri="{9D8B030D-6E8A-4147-A177-3AD203B41FA5}">
                      <a16:colId xmlns:a16="http://schemas.microsoft.com/office/drawing/2014/main" val="3576037982"/>
                    </a:ext>
                  </a:extLst>
                </a:gridCol>
                <a:gridCol w="633927">
                  <a:extLst>
                    <a:ext uri="{9D8B030D-6E8A-4147-A177-3AD203B41FA5}">
                      <a16:colId xmlns:a16="http://schemas.microsoft.com/office/drawing/2014/main" val="3306031585"/>
                    </a:ext>
                  </a:extLst>
                </a:gridCol>
                <a:gridCol w="453777">
                  <a:extLst>
                    <a:ext uri="{9D8B030D-6E8A-4147-A177-3AD203B41FA5}">
                      <a16:colId xmlns:a16="http://schemas.microsoft.com/office/drawing/2014/main" val="2891755252"/>
                    </a:ext>
                  </a:extLst>
                </a:gridCol>
                <a:gridCol w="814078">
                  <a:extLst>
                    <a:ext uri="{9D8B030D-6E8A-4147-A177-3AD203B41FA5}">
                      <a16:colId xmlns:a16="http://schemas.microsoft.com/office/drawing/2014/main" val="71286254"/>
                    </a:ext>
                  </a:extLst>
                </a:gridCol>
                <a:gridCol w="633927">
                  <a:extLst>
                    <a:ext uri="{9D8B030D-6E8A-4147-A177-3AD203B41FA5}">
                      <a16:colId xmlns:a16="http://schemas.microsoft.com/office/drawing/2014/main" val="3564674790"/>
                    </a:ext>
                  </a:extLst>
                </a:gridCol>
                <a:gridCol w="633927">
                  <a:extLst>
                    <a:ext uri="{9D8B030D-6E8A-4147-A177-3AD203B41FA5}">
                      <a16:colId xmlns:a16="http://schemas.microsoft.com/office/drawing/2014/main" val="3687616700"/>
                    </a:ext>
                  </a:extLst>
                </a:gridCol>
              </a:tblGrid>
              <a:tr h="315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 err="1"/>
                        <a:t>Recipe</a:t>
                      </a:r>
                      <a:endParaRPr lang="ko-KR" sz="1000" dirty="0"/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WF#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Si2H6 (</a:t>
                      </a:r>
                      <a:r>
                        <a:rPr lang="ko-KR" sz="1000" dirty="0" err="1"/>
                        <a:t>sccm</a:t>
                      </a:r>
                      <a:r>
                        <a:rPr lang="ko-KR" sz="1000" dirty="0"/>
                        <a:t>)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Power (</a:t>
                      </a:r>
                      <a:r>
                        <a:rPr lang="ko-KR" sz="1000" dirty="0" err="1"/>
                        <a:t>W</a:t>
                      </a:r>
                      <a:r>
                        <a:rPr lang="ko-KR" sz="1000" dirty="0"/>
                        <a:t>)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 err="1"/>
                        <a:t>Temp</a:t>
                      </a:r>
                      <a:r>
                        <a:rPr lang="ko-KR" sz="1000" dirty="0"/>
                        <a:t> (℃)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Time (초)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AVG (Å)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RNG (</a:t>
                      </a:r>
                      <a:r>
                        <a:rPr lang="ko-KR" sz="1000" dirty="0" err="1"/>
                        <a:t>Å</a:t>
                      </a:r>
                      <a:r>
                        <a:rPr lang="ko-KR" sz="1000" dirty="0"/>
                        <a:t>)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 err="1"/>
                        <a:t>Unif</a:t>
                      </a:r>
                      <a:r>
                        <a:rPr lang="ko-KR" sz="1000" dirty="0"/>
                        <a:t>.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949722933"/>
                  </a:ext>
                </a:extLst>
              </a:tr>
              <a:tr h="193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run19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6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195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300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300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45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3,143.88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623.63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9.92%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403867453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9668E20-2277-E73E-92D6-5C42B31C5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156627"/>
              </p:ext>
            </p:extLst>
          </p:nvPr>
        </p:nvGraphicFramePr>
        <p:xfrm>
          <a:off x="6288802" y="1763576"/>
          <a:ext cx="5386732" cy="2611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3366">
                  <a:extLst>
                    <a:ext uri="{9D8B030D-6E8A-4147-A177-3AD203B41FA5}">
                      <a16:colId xmlns:a16="http://schemas.microsoft.com/office/drawing/2014/main" val="3059033631"/>
                    </a:ext>
                  </a:extLst>
                </a:gridCol>
                <a:gridCol w="2693366">
                  <a:extLst>
                    <a:ext uri="{9D8B030D-6E8A-4147-A177-3AD203B41FA5}">
                      <a16:colId xmlns:a16="http://schemas.microsoft.com/office/drawing/2014/main" val="2612458174"/>
                    </a:ext>
                  </a:extLst>
                </a:gridCol>
              </a:tblGrid>
              <a:tr h="32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계산 항목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계산 결과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1618386153"/>
                  </a:ext>
                </a:extLst>
              </a:tr>
              <a:tr h="32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온도 감소량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약 65.3℃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1193064664"/>
                  </a:ext>
                </a:extLst>
              </a:tr>
              <a:tr h="32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예상 증착률 감소율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약 9.40%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522989846"/>
                  </a:ext>
                </a:extLst>
              </a:tr>
              <a:tr h="32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45초 유지 시 예상 평균 두께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2,848.32 Å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3336693639"/>
                  </a:ext>
                </a:extLst>
              </a:tr>
              <a:tr h="32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목표 두께 ÷ 예상 두께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3,500 ÷ 2,848.32 = 1.2288배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439411336"/>
                  </a:ext>
                </a:extLst>
              </a:tr>
              <a:tr h="32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계산된 보정 시간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45 × 1.2288 = 55.30초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80315075"/>
                  </a:ext>
                </a:extLst>
              </a:tr>
              <a:tr h="32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평가에 적용한 시간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55초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105880455"/>
                  </a:ext>
                </a:extLst>
              </a:tr>
              <a:tr h="32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55초 적용 시 예상 평균 두께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3,481.20 </a:t>
                      </a:r>
                      <a:r>
                        <a:rPr lang="ko-KR" sz="1000" dirty="0" err="1"/>
                        <a:t>Å</a:t>
                      </a:r>
                      <a:endParaRPr lang="ko-KR" sz="1000" dirty="0"/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039358240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D44D2A-161A-E9ED-0F12-0253B99BDE2F}"/>
              </a:ext>
            </a:extLst>
          </p:cNvPr>
          <p:cNvSpPr>
            <a:spLocks noGrp="1"/>
          </p:cNvSpPr>
          <p:nvPr/>
        </p:nvSpPr>
        <p:spPr>
          <a:xfrm>
            <a:off x="6288802" y="4781110"/>
            <a:ext cx="4260121" cy="128429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증착률 감소에 따른 시간 보정</a:t>
            </a: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온도 감소량에 기존 증착률 변화율을 적용해 두께 감소와 필요한 시간을 계산함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234.7℃·55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초를 예상 최적 후보로 설정함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13EF3B-E034-50CB-89EA-522AC5E25D4D}"/>
              </a:ext>
            </a:extLst>
          </p:cNvPr>
          <p:cNvSpPr>
            <a:spLocks noGrp="1"/>
          </p:cNvSpPr>
          <p:nvPr/>
        </p:nvSpPr>
        <p:spPr>
          <a:xfrm>
            <a:off x="457200" y="853842"/>
            <a:ext cx="7803221" cy="5111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7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46" b="1" dirty="0">
                <a:solidFill>
                  <a:srgbClr val="172C3D"/>
                </a:solidFill>
                <a:latin typeface="Malgun Gothic"/>
              </a:rPr>
              <a:t>기준 조건 및 예상 온도 계산</a:t>
            </a:r>
            <a:endParaRPr lang="ko-KR" altLang="en-US" sz="2446" b="1" dirty="0">
              <a:solidFill>
                <a:srgbClr val="172C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F70001-99CB-9114-B383-B345A4064F72}"/>
              </a:ext>
            </a:extLst>
          </p:cNvPr>
          <p:cNvSpPr>
            <a:spLocks noGrp="1"/>
          </p:cNvSpPr>
          <p:nvPr/>
        </p:nvSpPr>
        <p:spPr>
          <a:xfrm>
            <a:off x="457201" y="296334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Project 0</a:t>
            </a:r>
            <a:r>
              <a:rPr lang="en-US"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ko-KR" sz="2175" dirty="0">
                <a:solidFill>
                  <a:srgbClr val="FF4564"/>
                </a:solidFill>
                <a:latin typeface="Malgun Gothic"/>
              </a:rPr>
              <a:t>후속 평가 설계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29ACC4-9744-3C7F-D459-79850D3A4C1A}"/>
              </a:ext>
            </a:extLst>
          </p:cNvPr>
          <p:cNvSpPr txBox="1"/>
          <p:nvPr/>
        </p:nvSpPr>
        <p:spPr>
          <a:xfrm>
            <a:off x="11391089" y="639107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11/14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652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7A9AA-834F-90CD-143F-F89220DF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68E92C7-8901-32CB-A6E2-5276A8DACCF3}"/>
              </a:ext>
            </a:extLst>
          </p:cNvPr>
          <p:cNvSpPr>
            <a:spLocks noGrp="1"/>
          </p:cNvSpPr>
          <p:nvPr/>
        </p:nvSpPr>
        <p:spPr>
          <a:xfrm>
            <a:off x="6919682" y="2516727"/>
            <a:ext cx="4260121" cy="102127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평가 계획</a:t>
            </a: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Si2H6 195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sccm을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고정해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9개 Split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구성함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각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Power·온도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조합에서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50·55·60초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비교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계획함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AA73AD-5F1B-FF96-55F6-EAF4995B968B}"/>
              </a:ext>
            </a:extLst>
          </p:cNvPr>
          <p:cNvSpPr>
            <a:spLocks noGrp="1"/>
          </p:cNvSpPr>
          <p:nvPr/>
        </p:nvSpPr>
        <p:spPr>
          <a:xfrm>
            <a:off x="6919683" y="4035481"/>
            <a:ext cx="4260121" cy="128429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평가 방법 및 기대 결과</a:t>
            </a: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평균 두께 및 위치별 두께가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3,500 Å ± 300 Å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만족하는지 확인</a:t>
            </a: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최댓값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·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최솟값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·Uniformity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계산해 예측과 비교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3AFC530-6F2B-64C2-AEF7-47B03B8C9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808976"/>
              </p:ext>
            </p:extLst>
          </p:nvPr>
        </p:nvGraphicFramePr>
        <p:xfrm>
          <a:off x="863030" y="1787895"/>
          <a:ext cx="5232969" cy="42162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7567">
                  <a:extLst>
                    <a:ext uri="{9D8B030D-6E8A-4147-A177-3AD203B41FA5}">
                      <a16:colId xmlns:a16="http://schemas.microsoft.com/office/drawing/2014/main" val="1570079411"/>
                    </a:ext>
                  </a:extLst>
                </a:gridCol>
                <a:gridCol w="747567">
                  <a:extLst>
                    <a:ext uri="{9D8B030D-6E8A-4147-A177-3AD203B41FA5}">
                      <a16:colId xmlns:a16="http://schemas.microsoft.com/office/drawing/2014/main" val="1784419292"/>
                    </a:ext>
                  </a:extLst>
                </a:gridCol>
                <a:gridCol w="747567">
                  <a:extLst>
                    <a:ext uri="{9D8B030D-6E8A-4147-A177-3AD203B41FA5}">
                      <a16:colId xmlns:a16="http://schemas.microsoft.com/office/drawing/2014/main" val="4065121449"/>
                    </a:ext>
                  </a:extLst>
                </a:gridCol>
                <a:gridCol w="747567">
                  <a:extLst>
                    <a:ext uri="{9D8B030D-6E8A-4147-A177-3AD203B41FA5}">
                      <a16:colId xmlns:a16="http://schemas.microsoft.com/office/drawing/2014/main" val="1771879668"/>
                    </a:ext>
                  </a:extLst>
                </a:gridCol>
                <a:gridCol w="747567">
                  <a:extLst>
                    <a:ext uri="{9D8B030D-6E8A-4147-A177-3AD203B41FA5}">
                      <a16:colId xmlns:a16="http://schemas.microsoft.com/office/drawing/2014/main" val="32772614"/>
                    </a:ext>
                  </a:extLst>
                </a:gridCol>
                <a:gridCol w="747567">
                  <a:extLst>
                    <a:ext uri="{9D8B030D-6E8A-4147-A177-3AD203B41FA5}">
                      <a16:colId xmlns:a16="http://schemas.microsoft.com/office/drawing/2014/main" val="2396923762"/>
                    </a:ext>
                  </a:extLst>
                </a:gridCol>
                <a:gridCol w="747567">
                  <a:extLst>
                    <a:ext uri="{9D8B030D-6E8A-4147-A177-3AD203B41FA5}">
                      <a16:colId xmlns:a16="http://schemas.microsoft.com/office/drawing/2014/main" val="103412760"/>
                    </a:ext>
                  </a:extLst>
                </a:gridCol>
              </a:tblGrid>
              <a:tr h="587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 err="1"/>
                        <a:t>Split</a:t>
                      </a:r>
                      <a:endParaRPr lang="ko-KR" sz="1000" dirty="0"/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Si2H6 (sccm)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Power (W)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Temp (℃)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Time (초)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예상 AVG (Å)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예상 Unif.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4036515592"/>
                  </a:ext>
                </a:extLst>
              </a:tr>
              <a:tr h="403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New_1-1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195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300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234.7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55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3,481.20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8.57%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4289151749"/>
                  </a:ext>
                </a:extLst>
              </a:tr>
              <a:tr h="403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New_1-2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195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300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234.7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50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—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—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40294991"/>
                  </a:ext>
                </a:extLst>
              </a:tr>
              <a:tr h="403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New_1-3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195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300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234.7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60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—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—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854959059"/>
                  </a:ext>
                </a:extLst>
              </a:tr>
              <a:tr h="403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New_2-1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195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400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200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55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—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—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3513362051"/>
                  </a:ext>
                </a:extLst>
              </a:tr>
              <a:tr h="403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New_2-2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195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400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200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50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—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—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187560105"/>
                  </a:ext>
                </a:extLst>
              </a:tr>
              <a:tr h="403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New_2-3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195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400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200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60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—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—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319830980"/>
                  </a:ext>
                </a:extLst>
              </a:tr>
              <a:tr h="403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New_3-1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195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400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300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55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—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—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3622402753"/>
                  </a:ext>
                </a:extLst>
              </a:tr>
              <a:tr h="403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New_3-2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195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400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300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50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—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—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081874476"/>
                  </a:ext>
                </a:extLst>
              </a:tr>
              <a:tr h="403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New_3-3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195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400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300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60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—</a:t>
                      </a: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—</a:t>
                      </a: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696265373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4DE9889D-E862-C2A3-7660-75092E33E49A}"/>
              </a:ext>
            </a:extLst>
          </p:cNvPr>
          <p:cNvSpPr>
            <a:spLocks noGrp="1"/>
          </p:cNvSpPr>
          <p:nvPr/>
        </p:nvSpPr>
        <p:spPr>
          <a:xfrm>
            <a:off x="457201" y="296334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Project 0</a:t>
            </a:r>
            <a:r>
              <a:rPr lang="en-US"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ko-KR" sz="2175" dirty="0">
                <a:solidFill>
                  <a:srgbClr val="FF4564"/>
                </a:solidFill>
                <a:latin typeface="Malgun Gothic"/>
              </a:rPr>
              <a:t>후속 평가 설계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3EBA34-6AC5-E8FF-8114-1F57F7BA1786}"/>
              </a:ext>
            </a:extLst>
          </p:cNvPr>
          <p:cNvSpPr>
            <a:spLocks noGrp="1"/>
          </p:cNvSpPr>
          <p:nvPr/>
        </p:nvSpPr>
        <p:spPr>
          <a:xfrm>
            <a:off x="457200" y="853842"/>
            <a:ext cx="7803221" cy="5111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7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446" b="1" dirty="0">
                <a:solidFill>
                  <a:srgbClr val="172C3D"/>
                </a:solidFill>
                <a:latin typeface="Malgun Gothic"/>
              </a:rPr>
              <a:t>Split </a:t>
            </a:r>
            <a:r>
              <a:rPr lang="ko-KR" altLang="en-US" sz="2446" b="1" dirty="0">
                <a:solidFill>
                  <a:srgbClr val="172C3D"/>
                </a:solidFill>
                <a:latin typeface="Malgun Gothic"/>
              </a:rPr>
              <a:t>평가 계획</a:t>
            </a:r>
            <a:endParaRPr lang="ko-KR" altLang="en-US" sz="2446" b="1" dirty="0">
              <a:solidFill>
                <a:srgbClr val="172C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A1804D-C87B-7366-636F-F927FD738BFD}"/>
              </a:ext>
            </a:extLst>
          </p:cNvPr>
          <p:cNvSpPr txBox="1"/>
          <p:nvPr/>
        </p:nvSpPr>
        <p:spPr>
          <a:xfrm>
            <a:off x="11391089" y="639107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12/14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450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2845A-0D47-97CF-E8B7-C788D0CB0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B72FB30-7CF9-0F0F-5420-14E5BC005B58}"/>
              </a:ext>
            </a:extLst>
          </p:cNvPr>
          <p:cNvSpPr>
            <a:spLocks noGrp="1"/>
          </p:cNvSpPr>
          <p:nvPr/>
        </p:nvSpPr>
        <p:spPr>
          <a:xfrm>
            <a:off x="457200" y="1623540"/>
            <a:ext cx="4849856" cy="22012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예측 한계</a:t>
            </a: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예측에는 다음 가정이 포함됨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기존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300~400℃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변화 경향이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234.7℃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까지 이어짐</a:t>
            </a: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Si</a:t>
            </a:r>
            <a:r>
              <a:rPr lang="en-US" altLang="ko-KR" sz="1273" baseline="-25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</a:t>
            </a:r>
            <a:r>
              <a:rPr lang="en-US" altLang="ko-KR" sz="1273" baseline="-25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6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175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sccm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변화율이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195 </a:t>
            </a:r>
            <a:r>
              <a:rPr lang="en-US" altLang="ko-KR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sccm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에도 적용</a:t>
            </a: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증착 두께가 시간에 비례하고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시간 보정 시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Uniformity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크게 변하지 않음</a:t>
            </a:r>
            <a:endParaRPr lang="en-US" altLang="ko-KR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따라서 실제 실험값과는 차이가 있을 것으로 예상되며 </a:t>
            </a:r>
            <a:r>
              <a:rPr lang="ko-KR" altLang="en-US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두께·시간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비례와 Uniformity 유지 여부 검증이 필요함</a:t>
            </a: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ko-KR" altLang="en-US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4E4F84-9393-1D3E-92FA-D537F2A54B85}"/>
              </a:ext>
            </a:extLst>
          </p:cNvPr>
          <p:cNvSpPr>
            <a:spLocks noGrp="1"/>
          </p:cNvSpPr>
          <p:nvPr/>
        </p:nvSpPr>
        <p:spPr>
          <a:xfrm>
            <a:off x="5782399" y="1598735"/>
            <a:ext cx="5498626" cy="20329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향후 계획</a:t>
            </a: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00000"/>
              </a:lnSpc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3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기존 분석 코드에 신규 공정 데이터를 지속적으로 축적해 </a:t>
            </a:r>
            <a:r>
              <a:rPr lang="ko-KR" altLang="en-US" sz="1273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전처리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·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집계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·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시각화를 자동화하고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계산 결과를 기반으로 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AI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해석 초안과 추가 확인 항목을 제시하는 분석 보조 도구로 확장하고자 함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 marL="227343" indent="-227343">
              <a:buFont typeface="Arial" panose="020B0604020202020204" pitchFamily="34" charset="0"/>
              <a:buChar char="•"/>
              <a:defRPr sz="1725" b="0">
                <a:solidFill>
                  <a:srgbClr val="5368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초반에는 반복 계산의 재현성과 보고서 작성 보조를 목표로 삼고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충분한 데이터가 쌓인 뒤 학습 모델 구현을 하고자 함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73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67E43F0-C9CF-B767-20B5-616F29280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351058"/>
              </p:ext>
            </p:extLst>
          </p:nvPr>
        </p:nvGraphicFramePr>
        <p:xfrm>
          <a:off x="457200" y="3899784"/>
          <a:ext cx="10823825" cy="230368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48350">
                  <a:extLst>
                    <a:ext uri="{9D8B030D-6E8A-4147-A177-3AD203B41FA5}">
                      <a16:colId xmlns:a16="http://schemas.microsoft.com/office/drawing/2014/main" val="2839618253"/>
                    </a:ext>
                  </a:extLst>
                </a:gridCol>
                <a:gridCol w="5267534">
                  <a:extLst>
                    <a:ext uri="{9D8B030D-6E8A-4147-A177-3AD203B41FA5}">
                      <a16:colId xmlns:a16="http://schemas.microsoft.com/office/drawing/2014/main" val="2138649343"/>
                    </a:ext>
                  </a:extLst>
                </a:gridCol>
                <a:gridCol w="3607941">
                  <a:extLst>
                    <a:ext uri="{9D8B030D-6E8A-4147-A177-3AD203B41FA5}">
                      <a16:colId xmlns:a16="http://schemas.microsoft.com/office/drawing/2014/main" val="3452966141"/>
                    </a:ext>
                  </a:extLst>
                </a:gridCol>
              </a:tblGrid>
              <a:tr h="242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단계</a:t>
                      </a:r>
                      <a:endParaRPr lang="ko-KR" sz="110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구현할 기능</a:t>
                      </a:r>
                      <a:endParaRPr lang="ko-KR" sz="110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확인 기준</a:t>
                      </a:r>
                      <a:endParaRPr lang="ko-KR" sz="110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196238554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① 입력 표준화</a:t>
                      </a:r>
                      <a:endParaRPr lang="ko-KR" sz="110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파일별 열 </a:t>
                      </a:r>
                      <a:r>
                        <a:rPr lang="ko-KR" sz="1100" dirty="0" err="1"/>
                        <a:t>이름·단위를</a:t>
                      </a:r>
                      <a:r>
                        <a:rPr lang="ko-KR" sz="1100" dirty="0"/>
                        <a:t> 통일하고 </a:t>
                      </a:r>
                      <a:r>
                        <a:rPr lang="ko-KR" sz="1100" dirty="0" err="1"/>
                        <a:t>Run·wafer</a:t>
                      </a:r>
                      <a:r>
                        <a:rPr lang="ko-KR" sz="1100" dirty="0"/>
                        <a:t> 식별자로 조건과 계측 결과 연결</a:t>
                      </a:r>
                      <a:endParaRPr lang="ko-KR" sz="110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누락·중복·연결되지 않은 데이터 표시</a:t>
                      </a:r>
                      <a:endParaRPr lang="ko-KR" sz="110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898067158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② 반복 분석 자동화</a:t>
                      </a:r>
                      <a:endParaRPr lang="ko-KR" sz="110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검토한 기준에 따라 공정 구간 분리, </a:t>
                      </a:r>
                      <a:r>
                        <a:rPr lang="ko-KR" sz="1100" dirty="0" err="1"/>
                        <a:t>평균·표준편차·Range</a:t>
                      </a:r>
                      <a:r>
                        <a:rPr lang="ko-KR" sz="1100" dirty="0"/>
                        <a:t> 계산, 조건별 그래프와 </a:t>
                      </a:r>
                      <a:r>
                        <a:rPr lang="ko-KR" sz="1100" dirty="0" err="1"/>
                        <a:t>wafer</a:t>
                      </a:r>
                      <a:r>
                        <a:rPr lang="ko-KR" sz="1100" dirty="0"/>
                        <a:t> </a:t>
                      </a:r>
                      <a:r>
                        <a:rPr lang="ko-KR" sz="1100" dirty="0" err="1"/>
                        <a:t>map</a:t>
                      </a:r>
                      <a:r>
                        <a:rPr lang="ko-KR" sz="1100" dirty="0"/>
                        <a:t> 생성</a:t>
                      </a:r>
                      <a:endParaRPr lang="ko-KR" sz="110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기존에 직접 계산한 결과와 일치 여부 확인</a:t>
                      </a:r>
                      <a:endParaRPr lang="ko-KR" sz="110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1603259000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③ AI 해석 보조</a:t>
                      </a:r>
                      <a:endParaRPr lang="ko-KR" sz="110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계산된 표, 비교 조건, 분석 기준을 AI에 전달해 관찰 사항과 추가 확인 질문 작성</a:t>
                      </a:r>
                      <a:endParaRPr lang="ko-KR" sz="110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근거가 되는 </a:t>
                      </a:r>
                      <a:r>
                        <a:rPr lang="ko-KR" sz="1100" dirty="0" err="1"/>
                        <a:t>Run·수치를</a:t>
                      </a:r>
                      <a:r>
                        <a:rPr lang="ko-KR" sz="1100" dirty="0"/>
                        <a:t> 함께 제시하고, 관찰과 추정을 구분</a:t>
                      </a:r>
                      <a:endParaRPr lang="ko-KR" sz="110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2703609811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④ 사람의 검토</a:t>
                      </a:r>
                      <a:endParaRPr lang="ko-KR" sz="110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원본 데이터·그래프와 AI 설명을 나란히 확인한 뒤 보고서 확정</a:t>
                      </a:r>
                      <a:endParaRPr lang="ko-KR" sz="110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수치 오류, 조건 혼동, 인과관계 단정 여부 점검</a:t>
                      </a:r>
                      <a:endParaRPr lang="ko-KR" sz="110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1334935380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⑤ 데이터 축적 후 예측 모델 검토</a:t>
                      </a:r>
                      <a:endParaRPr lang="ko-KR" sz="110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 err="1"/>
                        <a:t>Recipe·센서</a:t>
                      </a:r>
                      <a:r>
                        <a:rPr lang="ko-KR" sz="1100" dirty="0"/>
                        <a:t> </a:t>
                      </a:r>
                      <a:r>
                        <a:rPr lang="ko-KR" sz="1100" dirty="0" err="1"/>
                        <a:t>요약값으로</a:t>
                      </a:r>
                      <a:r>
                        <a:rPr lang="ko-KR" sz="1100" dirty="0"/>
                        <a:t> 평균 </a:t>
                      </a:r>
                      <a:r>
                        <a:rPr lang="ko-KR" sz="1100" dirty="0" err="1"/>
                        <a:t>두께·산포를</a:t>
                      </a:r>
                      <a:r>
                        <a:rPr lang="ko-KR" sz="1100" dirty="0"/>
                        <a:t> 예측하는 모델의 가능성 평가</a:t>
                      </a:r>
                      <a:endParaRPr lang="ko-KR" sz="110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학습에 쓰지 않은 후속 </a:t>
                      </a:r>
                      <a:r>
                        <a:rPr lang="ko-KR" sz="1100" dirty="0" err="1"/>
                        <a:t>Run에서</a:t>
                      </a:r>
                      <a:r>
                        <a:rPr lang="ko-KR" sz="1100" dirty="0"/>
                        <a:t> 오차 확인</a:t>
                      </a:r>
                      <a:endParaRPr lang="ko-KR" sz="110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748" marR="72748" marT="36374" marB="36374" anchor="ctr"/>
                </a:tc>
                <a:extLst>
                  <a:ext uri="{0D108BD9-81ED-4DB2-BD59-A6C34878D82A}">
                    <a16:rowId xmlns:a16="http://schemas.microsoft.com/office/drawing/2014/main" val="377443804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79767C4-B1A7-4C13-AC28-19EEBC598720}"/>
              </a:ext>
            </a:extLst>
          </p:cNvPr>
          <p:cNvSpPr txBox="1"/>
          <p:nvPr/>
        </p:nvSpPr>
        <p:spPr>
          <a:xfrm>
            <a:off x="457200" y="3592865"/>
            <a:ext cx="4849856" cy="28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</a:t>
            </a:r>
            <a:r>
              <a:rPr lang="en-US" altLang="ko-KR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3. </a:t>
            </a:r>
            <a:r>
              <a:rPr lang="ko-KR" altLang="en-US" sz="1273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자동화 계획표</a:t>
            </a:r>
            <a:endParaRPr lang="ko-KR" altLang="en-US" sz="1432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0AAE98-B7DD-8D7D-D292-1C965A07AA4E}"/>
              </a:ext>
            </a:extLst>
          </p:cNvPr>
          <p:cNvSpPr>
            <a:spLocks noGrp="1"/>
          </p:cNvSpPr>
          <p:nvPr/>
        </p:nvSpPr>
        <p:spPr>
          <a:xfrm>
            <a:off x="457201" y="296334"/>
            <a:ext cx="11218333" cy="36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Project 0</a:t>
            </a:r>
            <a:r>
              <a:rPr lang="en-US"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933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ko-KR" sz="2175" dirty="0">
                <a:solidFill>
                  <a:srgbClr val="FF4564"/>
                </a:solidFill>
                <a:latin typeface="Malgun Gothic"/>
              </a:rPr>
              <a:t>후속 평가 설계</a:t>
            </a:r>
            <a:endParaRPr sz="1933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0532B7-6713-B73B-A38F-46563106CBA9}"/>
              </a:ext>
            </a:extLst>
          </p:cNvPr>
          <p:cNvSpPr>
            <a:spLocks noGrp="1"/>
          </p:cNvSpPr>
          <p:nvPr/>
        </p:nvSpPr>
        <p:spPr>
          <a:xfrm>
            <a:off x="457200" y="853842"/>
            <a:ext cx="7803221" cy="5111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75" b="1">
                <a:solidFill>
                  <a:srgbClr val="172C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46" b="1" dirty="0">
                <a:solidFill>
                  <a:srgbClr val="172C3D"/>
                </a:solidFill>
                <a:latin typeface="Malgun Gothic"/>
                <a:ea typeface="Malgun Gothic"/>
                <a:cs typeface="Malgun Gothic"/>
              </a:rPr>
              <a:t>향후 계획 및 한계점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7DE9E4-FDAF-225A-7667-BEC912C887C6}"/>
              </a:ext>
            </a:extLst>
          </p:cNvPr>
          <p:cNvSpPr txBox="1"/>
          <p:nvPr/>
        </p:nvSpPr>
        <p:spPr>
          <a:xfrm>
            <a:off x="11391089" y="639107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13/14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948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5F6F5"/>
            </a:gs>
            <a:gs pos="100000">
              <a:srgbClr val="FF617B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51345F-4F3B-5BE0-1FED-F47879DE0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8610E3-921C-3327-7C34-91676F7349A3}"/>
              </a:ext>
            </a:extLst>
          </p:cNvPr>
          <p:cNvSpPr>
            <a:spLocks noGrp="1"/>
          </p:cNvSpPr>
          <p:nvPr/>
        </p:nvSpPr>
        <p:spPr>
          <a:xfrm>
            <a:off x="506761" y="1917866"/>
            <a:ext cx="5678449" cy="104181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812810">
              <a:defRPr sz="2175" b="1">
                <a:solidFill>
                  <a:srgbClr val="FF4564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4800" b="1" dirty="0">
                <a:solidFill>
                  <a:srgbClr val="FF4564"/>
                </a:solidFill>
                <a:latin typeface="Malgun Gothic"/>
                <a:ea typeface="Malgun Gothic"/>
                <a:cs typeface="Malgun Gothic"/>
              </a:rPr>
              <a:t>Thank You.</a:t>
            </a:r>
            <a:endParaRPr sz="4800" b="1" dirty="0">
              <a:solidFill>
                <a:srgbClr val="FF45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B9CC13-9D1B-A476-B3D2-2E4BA49D390B}"/>
              </a:ext>
            </a:extLst>
          </p:cNvPr>
          <p:cNvSpPr txBox="1"/>
          <p:nvPr/>
        </p:nvSpPr>
        <p:spPr>
          <a:xfrm>
            <a:off x="506761" y="5486217"/>
            <a:ext cx="6700025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12810">
              <a:lnSpc>
                <a:spcPts val="1700"/>
              </a:lnSpc>
            </a:pPr>
            <a:r>
              <a:rPr lang="ko-KR" altLang="ko-KR" sz="1200" dirty="0">
                <a:solidFill>
                  <a:srgbClr val="000000"/>
                </a:solidFill>
                <a:latin typeface="Calibri"/>
                <a:cs typeface="Calibri"/>
              </a:rPr>
              <a:t>유지원</a:t>
            </a:r>
            <a:r>
              <a:rPr lang="en-US" altLang="ko-KR" sz="1200" dirty="0">
                <a:solidFill>
                  <a:srgbClr val="000000"/>
                </a:solidFill>
                <a:latin typeface="Calibri"/>
                <a:cs typeface="Calibri"/>
              </a:rPr>
              <a:t> JIWON YOO</a:t>
            </a:r>
          </a:p>
          <a:p>
            <a:pPr defTabSz="812810">
              <a:lnSpc>
                <a:spcPts val="17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Calibri"/>
                <a:cs typeface="Calibri"/>
              </a:rPr>
              <a:t>010-2796-6863</a:t>
            </a:r>
          </a:p>
          <a:p>
            <a:pPr defTabSz="812810">
              <a:lnSpc>
                <a:spcPts val="17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jwyoo178@naver.com</a:t>
            </a:r>
            <a:endParaRPr lang="en-US" altLang="ko-KR" sz="1200" dirty="0">
              <a:solidFill>
                <a:srgbClr val="000000"/>
              </a:solidFill>
              <a:latin typeface="Calibri"/>
              <a:cs typeface="Calibri"/>
            </a:endParaRPr>
          </a:p>
          <a:p>
            <a:pPr defTabSz="812810">
              <a:lnSpc>
                <a:spcPts val="1700"/>
              </a:lnSpc>
            </a:pPr>
            <a:r>
              <a:rPr lang="ko-KR" altLang="en-US" sz="1200" dirty="0">
                <a:solidFill>
                  <a:srgbClr val="000000"/>
                </a:solidFill>
                <a:latin typeface="Calibri"/>
                <a:cs typeface="Calibri"/>
              </a:rPr>
              <a:t>프로젝트 상세 보기</a:t>
            </a:r>
            <a:r>
              <a:rPr lang="en-US" altLang="ko-KR" sz="1200" dirty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lang="ko-KR" altLang="ko-KR" sz="1200" dirty="0">
                <a:solidFill>
                  <a:srgbClr val="000000"/>
                </a:solidFill>
                <a:latin typeface="Calibri"/>
                <a:cs typeface="Calibri"/>
                <a:hlinkClick r:id="rId3"/>
              </a:rPr>
              <a:t>GitHub</a:t>
            </a:r>
            <a:endParaRPr lang="en-US" altLang="ko-KR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ACAB5-955A-2990-C3AE-489B769676F8}"/>
              </a:ext>
            </a:extLst>
          </p:cNvPr>
          <p:cNvSpPr txBox="1"/>
          <p:nvPr/>
        </p:nvSpPr>
        <p:spPr>
          <a:xfrm>
            <a:off x="506761" y="174858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12810"/>
            <a:r>
              <a:rPr lang="ko-KR" altLang="en-US" sz="1600" b="1" dirty="0" err="1">
                <a:solidFill>
                  <a:srgbClr val="000000"/>
                </a:solidFill>
                <a:latin typeface="Calibri"/>
                <a:cs typeface="Calibri"/>
              </a:rPr>
              <a:t>읽어주셔서</a:t>
            </a:r>
            <a:r>
              <a:rPr lang="ko-KR" altLang="en-US" sz="1600" b="1" dirty="0">
                <a:solidFill>
                  <a:srgbClr val="000000"/>
                </a:solidFill>
                <a:latin typeface="Calibri"/>
                <a:cs typeface="Calibri"/>
              </a:rPr>
              <a:t> 감사합니다</a:t>
            </a:r>
            <a:r>
              <a:rPr lang="en-US" altLang="ko-KR" sz="16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endParaRPr lang="ko-KR" altLang="en-US" sz="1600" b="1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4664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4262</Words>
  <Application>Microsoft Office PowerPoint</Application>
  <PresentationFormat>와이드스크린</PresentationFormat>
  <Paragraphs>2306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Malgun Gothic</vt:lpstr>
      <vt:lpstr>Malgun Gothic</vt:lpstr>
      <vt:lpstr>함초롬바탕</vt:lpstr>
      <vt:lpstr>Arial</vt:lpstr>
      <vt:lpstr>Calibri</vt:lpstr>
      <vt:lpstr>Wingdings</vt:lpstr>
      <vt:lpstr>Office 테마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유지원</dc:creator>
  <cp:lastModifiedBy>유지원</cp:lastModifiedBy>
  <cp:revision>5</cp:revision>
  <dcterms:created xsi:type="dcterms:W3CDTF">2026-09-16T04:34:40Z</dcterms:created>
  <dcterms:modified xsi:type="dcterms:W3CDTF">2026-09-16T05:42:35Z</dcterms:modified>
</cp:coreProperties>
</file>